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ckground" id="{EDE75C27-1E40-3749-7007-2CEEB38D8200}">
          <p14:sldIdLst>
            <p14:sldId id="256"/>
            <p14:sldId id="257"/>
            <p14:sldId id="258"/>
            <p14:sldId id="259"/>
          </p14:sldIdLst>
        </p14:section>
        <p14:section name="Design" id="{49E9B311-C403-259A-2718-68EC266AAE3E}">
          <p14:sldIdLst>
            <p14:sldId id="260"/>
            <p14:sldId id="261"/>
            <p14:sldId id="262"/>
            <p14:sldId id="263"/>
          </p14:sldIdLst>
        </p14:section>
        <p14:section name="Outcomes" id="{1DF47B16-3F0F-AF47-A2B4-025EFAC643C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p:scale>
          <a:sx n="125" d="100"/>
          <a:sy n="125" d="100"/>
        </p:scale>
        <p:origin x="90"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3C49"/>
                </a:solidFill>
                <a:latin typeface="+mn-lt"/>
              </a:defRPr>
            </a:pPr>
            <a:r>
              <a:rPr lang="en-IN" sz="1400" b="0" i="0" u="none" strike="noStrike">
                <a:solidFill>
                  <a:srgbClr val="0B3C49"/>
                </a:solidFill>
                <a:latin typeface="+mn-lt"/>
              </a:rPr>
              <a:t>Dataset split</a:t>
            </a:r>
          </a:p>
        </c:rich>
      </c:tx>
      <c:overlay val="0"/>
    </c:title>
    <c:autoTitleDeleted val="0"/>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14808A"/>
              </a:solidFill>
              <a:ln w="25400" cap="flat">
                <a:solidFill>
                  <a:srgbClr val="FFFFFF"/>
                </a:solidFill>
                <a:prstDash val="solid"/>
                <a:round/>
              </a:ln>
              <a:effectLst/>
            </c:spPr>
            <c:extLst>
              <c:ext xmlns:c16="http://schemas.microsoft.com/office/drawing/2014/chart" uri="{C3380CC4-5D6E-409C-BE32-E72D297353CC}">
                <c16:uniqueId val="{00000001-A6D9-4E01-B738-A0AB9E254AA6}"/>
              </c:ext>
            </c:extLst>
          </c:dPt>
          <c:dPt>
            <c:idx val="1"/>
            <c:bubble3D val="0"/>
            <c:spPr>
              <a:solidFill>
                <a:srgbClr val="F2A541"/>
              </a:solidFill>
              <a:ln w="25400" cap="flat">
                <a:solidFill>
                  <a:srgbClr val="FFFFFF"/>
                </a:solidFill>
                <a:prstDash val="solid"/>
                <a:round/>
              </a:ln>
              <a:effectLst/>
            </c:spPr>
            <c:extLst>
              <c:ext xmlns:c16="http://schemas.microsoft.com/office/drawing/2014/chart" uri="{C3380CC4-5D6E-409C-BE32-E72D297353CC}">
                <c16:uniqueId val="{00000003-A6D9-4E01-B738-A0AB9E254AA6}"/>
              </c:ext>
            </c:extLst>
          </c:dPt>
          <c:dPt>
            <c:idx val="2"/>
            <c:bubble3D val="0"/>
            <c:spPr>
              <a:solidFill>
                <a:srgbClr val="D9482B"/>
              </a:solidFill>
              <a:ln w="25400" cap="flat">
                <a:solidFill>
                  <a:srgbClr val="FFFFFF"/>
                </a:solidFill>
                <a:prstDash val="solid"/>
                <a:round/>
              </a:ln>
              <a:effectLst/>
            </c:spPr>
            <c:extLst>
              <c:ext xmlns:c16="http://schemas.microsoft.com/office/drawing/2014/chart" uri="{C3380CC4-5D6E-409C-BE32-E72D297353CC}">
                <c16:uniqueId val="{00000005-A6D9-4E01-B738-A0AB9E254AA6}"/>
              </c:ext>
            </c:extLst>
          </c:dPt>
          <c:cat>
            <c:strRef>
              <c:f>Sheet1!$A$2:$A$4</c:f>
              <c:strCache>
                <c:ptCount val="3"/>
                <c:pt idx="0">
                  <c:v>Train: 5,551 (90%)</c:v>
                </c:pt>
                <c:pt idx="1">
                  <c:v>Validation: 308 (5%)</c:v>
                </c:pt>
                <c:pt idx="2">
                  <c:v>Test: 309 (5%)</c:v>
                </c:pt>
              </c:strCache>
            </c:strRef>
          </c:cat>
          <c:val>
            <c:numRef>
              <c:f>Sheet1!$B$2:$B$4</c:f>
              <c:numCache>
                <c:formatCode>General</c:formatCode>
                <c:ptCount val="3"/>
                <c:pt idx="0">
                  <c:v>5551</c:v>
                </c:pt>
                <c:pt idx="1">
                  <c:v>308</c:v>
                </c:pt>
                <c:pt idx="2">
                  <c:v>309</c:v>
                </c:pt>
              </c:numCache>
            </c:numRef>
          </c:val>
          <c:extLst>
            <c:ext xmlns:c16="http://schemas.microsoft.com/office/drawing/2014/chart" uri="{C3380CC4-5D6E-409C-BE32-E72D297353CC}">
              <c16:uniqueId val="{00000006-A6D9-4E01-B738-A0AB9E254AA6}"/>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200">
              <a:solidFill>
                <a:srgbClr val="1B2B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4430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MediRep: an AI system that explains medical lab and radiology reports in plain language, tracks health trends over time, and keeps all patient data in memory only. Built as the AI Mini Project at IIIT Kottayam, 2025–26.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flaws in current practice: jargon-heavy reports, generative AI that hallucinates numbers and misreads negation, and privacy violations when records go to third-party clouds. Studies cited in the report suggest over 70% of outpatients feel acute stress reviewing results without a physician.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objectives: ingestion and OCR, a deterministic lab analysis engine, biomedical NER with assertions, grounding in a real clinical dataset, a longitudinal trend tracker, and a strict zero-retention privacy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BioBERT (Lee 2020), ScispaCy (Neumann 2019), NegEx (Chapman 2001), the IU X-Ray collection (Demner-Fushman 2016) and the Kaggle annotation framework. Existing tools either lack numeric precision, ignore negation, or expose data. MediRep combines BioBERT-style token classification and NegEx-style assertions with deterministic range logic.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decoupled full-stack design. React 19 with TypeScript and Tailwind v4 on the client; FastAPI with Uvicorn on Python 3.13 on the server. Behind the API: ingestion and OCR, the deterministic range engine, the NER engine, and the longitudinal tracker.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report passes seven asynchronous stages. Stage 2 is the key safety choice: numbers are compared to the reference interval printed in the report, so there is no generative guessing. Stage 5 suppresses routine lifestyle advice and shows an urgent banner when emergency terms such as pulmonary embolism appear.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corpus holds 6,168 cleaned reports (IDs MED_00001 to MED_06168): 2,336 MTSamples transcriptions and 3,835 IU chest X-ray reports. Preprocessing removed duplicates and markup and dropped texts under 100 characters. Split 90/5/5: 5,551 train, 308 validation, 309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entity classes follow the Kaggle annotation schema. Each entity also gets an assertion state, based on NegEx ideas, so a negated finding such as “No pneumothorax” in test case TC-03 is correctly marked ABSENT instead of being reported as a disease.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multilingual voice output, constrained on-device conversational Q&amp;A, and a drug interaction engine. Conclusion: MediRep democratizes report understanding without compromising privacy or precision by combining deterministic interval checks, 8-class NER with assertions, and longitudinal tracking. Limitations: English-only v1, relies on printed reference ranges, and does not replace clinical consultation.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5303520" cy="9144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548640" y="2286000"/>
            <a:ext cx="5120640" cy="1097280"/>
          </a:xfrm>
          <a:prstGeom prst="rect">
            <a:avLst/>
          </a:prstGeom>
          <a:noFill/>
          <a:ln/>
        </p:spPr>
        <p:txBody>
          <a:bodyPr wrap="square" rtlCol="0"/>
          <a:lstStyle>
            <a:lvl1pPr marL="0" indent="0">
              <a:buNone/>
              <a:defRPr lang="en-US" sz="2000" dirty="0">
                <a:solidFill>
                  <a:schemeClr val="accent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5"/>
                </a:solidFill>
              </a:rPr>
              <a:t>MediRep  |  AI Mini Project 2025–26</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MediRep  |  AI Mini Project 2025–26</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B9B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outer"/>
          <p:cNvSpPr/>
          <p:nvPr/>
        </p:nvSpPr>
        <p:spPr>
          <a:xfrm>
            <a:off x="6035040" y="822960"/>
            <a:ext cx="3108960" cy="3108960"/>
          </a:xfrm>
          <a:prstGeom prst="ellipse">
            <a:avLst/>
          </a:prstGeom>
          <a:solidFill>
            <a:schemeClr val="accent1"/>
          </a:solidFill>
          <a:ln/>
        </p:spPr>
      </p:sp>
      <p:sp>
        <p:nvSpPr>
          <p:cNvPr id="3" name="Decor ring"/>
          <p:cNvSpPr/>
          <p:nvPr/>
        </p:nvSpPr>
        <p:spPr>
          <a:xfrm>
            <a:off x="6035040" y="822960"/>
            <a:ext cx="3108960" cy="3108960"/>
          </a:xfrm>
          <a:prstGeom prst="ellipse">
            <a:avLst/>
          </a:prstGeom>
          <a:solidFill>
            <a:schemeClr val="accent1"/>
          </a:solidFill>
          <a:ln/>
        </p:spPr>
      </p:sp>
      <p:sp>
        <p:nvSpPr>
          <p:cNvPr id="4" name="Decor inner"/>
          <p:cNvSpPr/>
          <p:nvPr/>
        </p:nvSpPr>
        <p:spPr>
          <a:xfrm>
            <a:off x="6492240" y="1280160"/>
            <a:ext cx="2194560" cy="2194560"/>
          </a:xfrm>
          <a:prstGeom prst="ellipse">
            <a:avLst/>
          </a:prstGeom>
          <a:solidFill>
            <a:schemeClr val="accent2"/>
          </a:solidFill>
          <a:ln/>
        </p:spPr>
      </p:sp>
      <p:pic>
        <p:nvPicPr>
          <p:cNvPr id="5" name="Heartbeat icon" descr="Heartbeat icon"/>
          <p:cNvPicPr>
            <a:picLocks noChangeAspect="1"/>
          </p:cNvPicPr>
          <p:nvPr/>
        </p:nvPicPr>
        <p:blipFill>
          <a:blip r:embed="rId3"/>
          <a:stretch>
            <a:fillRect/>
          </a:stretch>
        </p:blipFill>
        <p:spPr>
          <a:xfrm>
            <a:off x="7086600" y="1874520"/>
            <a:ext cx="1005840" cy="1005840"/>
          </a:xfrm>
          <a:prstGeom prst="rect">
            <a:avLst/>
          </a:prstGeom>
        </p:spPr>
      </p:pic>
      <p:sp>
        <p:nvSpPr>
          <p:cNvPr id="6" name="Text 0"/>
          <p:cNvSpPr>
            <a:spLocks noGrp="1"/>
          </p:cNvSpPr>
          <p:nvPr>
            <p:ph type="title" idx="100" hasCustomPrompt="1"/>
          </p:nvPr>
        </p:nvSpPr>
        <p:spPr>
          <a:xfrm>
            <a:off x="548640" y="1234440"/>
            <a:ext cx="5303520" cy="914400"/>
          </a:xfrm>
          <a:prstGeom prst="rect">
            <a:avLst/>
          </a:prstGeom>
          <a:noFill/>
          <a:ln/>
        </p:spPr>
        <p:txBody>
          <a:bodyPr wrap="square" lIns="0" tIns="0" rIns="0" bIns="0" rtlCol="0" anchor="ctr"/>
          <a:lstStyle/>
          <a:p>
            <a:pPr marL="0" indent="0" algn="l">
              <a:buNone/>
            </a:pPr>
            <a:r>
              <a:rPr lang="en-US" sz="5400" b="1" dirty="0">
                <a:solidFill>
                  <a:schemeClr val="bg1"/>
                </a:solidFill>
              </a:rPr>
              <a:t>MediRep</a:t>
            </a:r>
            <a:endParaRPr lang="en-US" sz="5400" dirty="0"/>
          </a:p>
        </p:txBody>
      </p:sp>
      <p:sp>
        <p:nvSpPr>
          <p:cNvPr id="7" name="Text 0"/>
          <p:cNvSpPr>
            <a:spLocks noGrp="1"/>
          </p:cNvSpPr>
          <p:nvPr>
            <p:ph type="body" idx="101" hasCustomPrompt="1"/>
          </p:nvPr>
        </p:nvSpPr>
        <p:spPr>
          <a:xfrm>
            <a:off x="548640" y="2286000"/>
            <a:ext cx="5120640" cy="1097280"/>
          </a:xfrm>
          <a:prstGeom prst="rect">
            <a:avLst/>
          </a:prstGeom>
          <a:noFill/>
          <a:ln/>
        </p:spPr>
        <p:txBody>
          <a:bodyPr wrap="square" lIns="0" tIns="0" rIns="0" bIns="0" rtlCol="0" anchor="t"/>
          <a:lstStyle/>
          <a:p>
            <a:pPr marL="0" indent="0">
              <a:buNone/>
            </a:pPr>
            <a:r>
              <a:rPr lang="en-US" sz="2000" dirty="0">
                <a:solidFill>
                  <a:schemeClr val="accent2"/>
                </a:solidFill>
              </a:rPr>
              <a:t>AI-Powered Medical Report Analyzer &amp; Longitudinal Health Tracker</a:t>
            </a:r>
            <a:endParaRPr lang="en-US" sz="2000" dirty="0"/>
          </a:p>
        </p:txBody>
      </p:sp>
      <p:sp>
        <p:nvSpPr>
          <p:cNvPr id="8" name="Text 5"/>
          <p:cNvSpPr txBox="1"/>
          <p:nvPr/>
        </p:nvSpPr>
        <p:spPr>
          <a:xfrm>
            <a:off x="548640" y="3520440"/>
            <a:ext cx="5120640" cy="274320"/>
          </a:xfrm>
          <a:prstGeom prst="rect">
            <a:avLst/>
          </a:prstGeom>
          <a:noFill/>
          <a:ln/>
        </p:spPr>
        <p:txBody>
          <a:bodyPr wrap="square" lIns="0" tIns="0" rIns="0" bIns="0" rtlCol="0" anchor="t"/>
          <a:lstStyle/>
          <a:p>
            <a:pPr marL="0" indent="0">
              <a:buNone/>
            </a:pPr>
            <a:r>
              <a:rPr lang="en-US" sz="1400" i="1" dirty="0">
                <a:solidFill>
                  <a:schemeClr val="bg1"/>
                </a:solidFill>
              </a:rPr>
              <a:t>A privacy-preserving biomedical NLP system</a:t>
            </a:r>
            <a:endParaRPr lang="en-US" sz="1400" dirty="0"/>
          </a:p>
        </p:txBody>
      </p:sp>
      <p:sp>
        <p:nvSpPr>
          <p:cNvPr id="9" name="Text 6"/>
          <p:cNvSpPr txBox="1"/>
          <p:nvPr/>
        </p:nvSpPr>
        <p:spPr>
          <a:xfrm>
            <a:off x="548640" y="4251960"/>
            <a:ext cx="5486400" cy="274320"/>
          </a:xfrm>
          <a:prstGeom prst="rect">
            <a:avLst/>
          </a:prstGeom>
          <a:noFill/>
          <a:ln/>
        </p:spPr>
        <p:txBody>
          <a:bodyPr wrap="square" lIns="0" tIns="0" rIns="0" bIns="0" rtlCol="0" anchor="t"/>
          <a:lstStyle/>
          <a:p>
            <a:pPr marL="0" indent="0">
              <a:buNone/>
            </a:pPr>
            <a:r>
              <a:rPr lang="en-US" sz="1400" dirty="0">
                <a:solidFill>
                  <a:schemeClr val="accent6"/>
                </a:solidFill>
              </a:rPr>
              <a:t>AI Project  </a:t>
            </a:r>
            <a:endParaRPr lang="en-US" sz="1400" dirty="0"/>
          </a:p>
        </p:txBody>
      </p:sp>
      <p:sp>
        <p:nvSpPr>
          <p:cNvPr id="10" name="Text 7"/>
          <p:cNvSpPr txBox="1"/>
          <p:nvPr/>
        </p:nvSpPr>
        <p:spPr>
          <a:xfrm>
            <a:off x="548640" y="4526280"/>
            <a:ext cx="5943600" cy="274320"/>
          </a:xfrm>
          <a:prstGeom prst="rect">
            <a:avLst/>
          </a:prstGeom>
          <a:noFill/>
          <a:ln/>
        </p:spPr>
        <p:txBody>
          <a:bodyPr wrap="square" lIns="0" tIns="0" rIns="0" bIns="0" rtlCol="0" anchor="t"/>
          <a:lstStyle/>
          <a:p>
            <a:pPr marL="0" indent="0">
              <a:buNone/>
            </a:pPr>
            <a:r>
              <a:rPr lang="en-US" sz="1400" dirty="0">
                <a:solidFill>
                  <a:schemeClr val="accent6"/>
                </a:solidFill>
              </a:rPr>
              <a:t>Department of Computer Science &amp; Engineering, IIIT Kottayam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Why Reports Confuse Patients</a:t>
            </a:r>
            <a:endParaRPr lang="en-US" sz="3400" dirty="0"/>
          </a:p>
        </p:txBody>
      </p:sp>
      <p:sp>
        <p:nvSpPr>
          <p:cNvPr id="3" name="Problem card 1"/>
          <p:cNvSpPr/>
          <p:nvPr/>
        </p:nvSpPr>
        <p:spPr>
          <a:xfrm>
            <a:off x="457200" y="1280160"/>
            <a:ext cx="2587752" cy="2240280"/>
          </a:xfrm>
          <a:prstGeom prst="roundRect">
            <a:avLst>
              <a:gd name="adj" fmla="val 4082"/>
            </a:avLst>
          </a:prstGeom>
          <a:solidFill>
            <a:schemeClr val="bg2"/>
          </a:solidFill>
          <a:ln/>
        </p:spPr>
      </p:sp>
      <p:sp>
        <p:nvSpPr>
          <p:cNvPr id="4" name="Problem 1 circle"/>
          <p:cNvSpPr/>
          <p:nvPr/>
        </p:nvSpPr>
        <p:spPr>
          <a:xfrm>
            <a:off x="685800" y="1463040"/>
            <a:ext cx="594360" cy="594360"/>
          </a:xfrm>
          <a:prstGeom prst="ellipse">
            <a:avLst/>
          </a:prstGeom>
          <a:solidFill>
            <a:schemeClr val="accent1"/>
          </a:solidFill>
          <a:ln/>
        </p:spPr>
      </p:sp>
      <p:pic>
        <p:nvPicPr>
          <p:cNvPr id="5" name="Problem 1 icon" descr="Problem 1"/>
          <p:cNvPicPr>
            <a:picLocks noChangeAspect="1"/>
          </p:cNvPicPr>
          <p:nvPr/>
        </p:nvPicPr>
        <p:blipFill>
          <a:blip r:embed="rId3"/>
          <a:stretch>
            <a:fillRect/>
          </a:stretch>
        </p:blipFill>
        <p:spPr>
          <a:xfrm>
            <a:off x="846277" y="1623517"/>
            <a:ext cx="273406" cy="273406"/>
          </a:xfrm>
          <a:prstGeom prst="rect">
            <a:avLst/>
          </a:prstGeom>
        </p:spPr>
      </p:pic>
      <p:sp>
        <p:nvSpPr>
          <p:cNvPr id="6" name="Text 3"/>
          <p:cNvSpPr txBox="1"/>
          <p:nvPr/>
        </p:nvSpPr>
        <p:spPr>
          <a:xfrm>
            <a:off x="685800" y="2194560"/>
            <a:ext cx="2194560" cy="320040"/>
          </a:xfrm>
          <a:prstGeom prst="rect">
            <a:avLst/>
          </a:prstGeom>
          <a:noFill/>
          <a:ln/>
        </p:spPr>
        <p:txBody>
          <a:bodyPr wrap="square" lIns="0" tIns="0" rIns="0" bIns="0" rtlCol="0" anchor="t"/>
          <a:lstStyle/>
          <a:p>
            <a:pPr marL="0" indent="0">
              <a:buNone/>
            </a:pPr>
            <a:r>
              <a:rPr lang="en-US" sz="1800" b="1" dirty="0">
                <a:solidFill>
                  <a:schemeClr val="tx2"/>
                </a:solidFill>
              </a:rPr>
              <a:t>Clinical jargon</a:t>
            </a:r>
            <a:endParaRPr lang="en-US" sz="1800" dirty="0"/>
          </a:p>
        </p:txBody>
      </p:sp>
      <p:sp>
        <p:nvSpPr>
          <p:cNvPr id="7" name="Text 4"/>
          <p:cNvSpPr txBox="1"/>
          <p:nvPr/>
        </p:nvSpPr>
        <p:spPr>
          <a:xfrm>
            <a:off x="685800" y="2560320"/>
            <a:ext cx="2194560" cy="868680"/>
          </a:xfrm>
          <a:prstGeom prst="rect">
            <a:avLst/>
          </a:prstGeom>
          <a:noFill/>
          <a:ln/>
        </p:spPr>
        <p:txBody>
          <a:bodyPr wrap="square" lIns="0" tIns="0" rIns="0" bIns="0" rtlCol="0" anchor="t"/>
          <a:lstStyle/>
          <a:p>
            <a:pPr marL="0" indent="0">
              <a:buNone/>
            </a:pPr>
            <a:r>
              <a:rPr lang="en-US" sz="1400" dirty="0">
                <a:solidFill>
                  <a:schemeClr val="tx1"/>
                </a:solidFill>
              </a:rPr>
              <a:t>Reports use physician-level terms, ranges and abbreviations with no plain-language help.</a:t>
            </a:r>
            <a:endParaRPr lang="en-US" sz="1400" dirty="0"/>
          </a:p>
        </p:txBody>
      </p:sp>
      <p:sp>
        <p:nvSpPr>
          <p:cNvPr id="8" name="Problem card 2"/>
          <p:cNvSpPr/>
          <p:nvPr/>
        </p:nvSpPr>
        <p:spPr>
          <a:xfrm>
            <a:off x="3273552" y="1280160"/>
            <a:ext cx="2587752" cy="2240280"/>
          </a:xfrm>
          <a:prstGeom prst="roundRect">
            <a:avLst>
              <a:gd name="adj" fmla="val 4082"/>
            </a:avLst>
          </a:prstGeom>
          <a:solidFill>
            <a:schemeClr val="bg2"/>
          </a:solidFill>
          <a:ln/>
        </p:spPr>
      </p:sp>
      <p:sp>
        <p:nvSpPr>
          <p:cNvPr id="9" name="Problem 2 circle"/>
          <p:cNvSpPr/>
          <p:nvPr/>
        </p:nvSpPr>
        <p:spPr>
          <a:xfrm>
            <a:off x="3502152" y="1463040"/>
            <a:ext cx="594360" cy="594360"/>
          </a:xfrm>
          <a:prstGeom prst="ellipse">
            <a:avLst/>
          </a:prstGeom>
          <a:solidFill>
            <a:schemeClr val="accent1"/>
          </a:solidFill>
          <a:ln/>
        </p:spPr>
      </p:sp>
      <p:pic>
        <p:nvPicPr>
          <p:cNvPr id="10" name="Problem 2 icon" descr="Problem 2"/>
          <p:cNvPicPr>
            <a:picLocks noChangeAspect="1"/>
          </p:cNvPicPr>
          <p:nvPr/>
        </p:nvPicPr>
        <p:blipFill>
          <a:blip r:embed="rId4"/>
          <a:stretch>
            <a:fillRect/>
          </a:stretch>
        </p:blipFill>
        <p:spPr>
          <a:xfrm>
            <a:off x="3662629" y="1623517"/>
            <a:ext cx="273406" cy="273406"/>
          </a:xfrm>
          <a:prstGeom prst="rect">
            <a:avLst/>
          </a:prstGeom>
        </p:spPr>
      </p:pic>
      <p:sp>
        <p:nvSpPr>
          <p:cNvPr id="11" name="Text 7"/>
          <p:cNvSpPr txBox="1"/>
          <p:nvPr/>
        </p:nvSpPr>
        <p:spPr>
          <a:xfrm>
            <a:off x="3502152" y="2194560"/>
            <a:ext cx="2194560" cy="320040"/>
          </a:xfrm>
          <a:prstGeom prst="rect">
            <a:avLst/>
          </a:prstGeom>
          <a:noFill/>
          <a:ln/>
        </p:spPr>
        <p:txBody>
          <a:bodyPr wrap="square" lIns="0" tIns="0" rIns="0" bIns="0" rtlCol="0" anchor="t"/>
          <a:lstStyle/>
          <a:p>
            <a:pPr marL="0" indent="0">
              <a:buNone/>
            </a:pPr>
            <a:r>
              <a:rPr lang="en-US" sz="1800" b="1" dirty="0">
                <a:solidFill>
                  <a:schemeClr val="tx2"/>
                </a:solidFill>
              </a:rPr>
              <a:t>AI hallucination</a:t>
            </a:r>
            <a:endParaRPr lang="en-US" sz="1800" dirty="0"/>
          </a:p>
        </p:txBody>
      </p:sp>
      <p:sp>
        <p:nvSpPr>
          <p:cNvPr id="12" name="Text 8"/>
          <p:cNvSpPr txBox="1"/>
          <p:nvPr/>
        </p:nvSpPr>
        <p:spPr>
          <a:xfrm>
            <a:off x="3502152" y="2560320"/>
            <a:ext cx="2194560" cy="868680"/>
          </a:xfrm>
          <a:prstGeom prst="rect">
            <a:avLst/>
          </a:prstGeom>
          <a:noFill/>
          <a:ln/>
        </p:spPr>
        <p:txBody>
          <a:bodyPr wrap="square" lIns="0" tIns="0" rIns="0" bIns="0" rtlCol="0" anchor="t"/>
          <a:lstStyle/>
          <a:p>
            <a:pPr marL="0" indent="0">
              <a:buNone/>
            </a:pPr>
            <a:r>
              <a:rPr lang="en-US" sz="1400" dirty="0">
                <a:solidFill>
                  <a:schemeClr val="tx1"/>
                </a:solidFill>
              </a:rPr>
              <a:t>LLMs invent lab ranges and misread negation, such as treating “No pneumonia” as pneumonia.</a:t>
            </a:r>
            <a:endParaRPr lang="en-US" sz="1400" dirty="0"/>
          </a:p>
        </p:txBody>
      </p:sp>
      <p:sp>
        <p:nvSpPr>
          <p:cNvPr id="13" name="Problem card 3"/>
          <p:cNvSpPr/>
          <p:nvPr/>
        </p:nvSpPr>
        <p:spPr>
          <a:xfrm>
            <a:off x="6089904" y="1280160"/>
            <a:ext cx="2587752" cy="2240280"/>
          </a:xfrm>
          <a:prstGeom prst="roundRect">
            <a:avLst>
              <a:gd name="adj" fmla="val 4082"/>
            </a:avLst>
          </a:prstGeom>
          <a:solidFill>
            <a:schemeClr val="bg2"/>
          </a:solidFill>
          <a:ln/>
        </p:spPr>
      </p:sp>
      <p:sp>
        <p:nvSpPr>
          <p:cNvPr id="14" name="Problem 3 circle"/>
          <p:cNvSpPr/>
          <p:nvPr/>
        </p:nvSpPr>
        <p:spPr>
          <a:xfrm>
            <a:off x="6318504" y="1463040"/>
            <a:ext cx="594360" cy="594360"/>
          </a:xfrm>
          <a:prstGeom prst="ellipse">
            <a:avLst/>
          </a:prstGeom>
          <a:solidFill>
            <a:schemeClr val="accent1"/>
          </a:solidFill>
          <a:ln/>
        </p:spPr>
      </p:sp>
      <p:pic>
        <p:nvPicPr>
          <p:cNvPr id="15" name="Problem 3 icon" descr="Problem 3"/>
          <p:cNvPicPr>
            <a:picLocks noChangeAspect="1"/>
          </p:cNvPicPr>
          <p:nvPr/>
        </p:nvPicPr>
        <p:blipFill>
          <a:blip r:embed="rId5"/>
          <a:stretch>
            <a:fillRect/>
          </a:stretch>
        </p:blipFill>
        <p:spPr>
          <a:xfrm>
            <a:off x="6478981" y="1623517"/>
            <a:ext cx="273406" cy="273406"/>
          </a:xfrm>
          <a:prstGeom prst="rect">
            <a:avLst/>
          </a:prstGeom>
        </p:spPr>
      </p:pic>
      <p:sp>
        <p:nvSpPr>
          <p:cNvPr id="16" name="Text 11"/>
          <p:cNvSpPr txBox="1"/>
          <p:nvPr/>
        </p:nvSpPr>
        <p:spPr>
          <a:xfrm>
            <a:off x="6318504" y="2194560"/>
            <a:ext cx="2194560" cy="320040"/>
          </a:xfrm>
          <a:prstGeom prst="rect">
            <a:avLst/>
          </a:prstGeom>
          <a:noFill/>
          <a:ln/>
        </p:spPr>
        <p:txBody>
          <a:bodyPr wrap="square" lIns="0" tIns="0" rIns="0" bIns="0" rtlCol="0" anchor="t"/>
          <a:lstStyle/>
          <a:p>
            <a:pPr marL="0" indent="0">
              <a:buNone/>
            </a:pPr>
            <a:r>
              <a:rPr lang="en-US" sz="1800" b="1" dirty="0">
                <a:solidFill>
                  <a:schemeClr val="tx2"/>
                </a:solidFill>
              </a:rPr>
              <a:t>Privacy risk</a:t>
            </a:r>
            <a:endParaRPr lang="en-US" sz="1800" dirty="0"/>
          </a:p>
        </p:txBody>
      </p:sp>
      <p:sp>
        <p:nvSpPr>
          <p:cNvPr id="17" name="Text 12"/>
          <p:cNvSpPr txBox="1"/>
          <p:nvPr/>
        </p:nvSpPr>
        <p:spPr>
          <a:xfrm>
            <a:off x="6318504" y="2560320"/>
            <a:ext cx="2194560" cy="868680"/>
          </a:xfrm>
          <a:prstGeom prst="rect">
            <a:avLst/>
          </a:prstGeom>
          <a:noFill/>
          <a:ln/>
        </p:spPr>
        <p:txBody>
          <a:bodyPr wrap="square" lIns="0" tIns="0" rIns="0" bIns="0" rtlCol="0" anchor="t"/>
          <a:lstStyle/>
          <a:p>
            <a:pPr marL="0" indent="0">
              <a:buNone/>
            </a:pPr>
            <a:r>
              <a:rPr lang="en-US" sz="1400" dirty="0">
                <a:solidFill>
                  <a:schemeClr val="tx1"/>
                </a:solidFill>
              </a:rPr>
              <a:t>Sending records to cloud APIs breaks health-privacy rules such as HIPAA.</a:t>
            </a:r>
            <a:endParaRPr lang="en-US" sz="1400" dirty="0"/>
          </a:p>
        </p:txBody>
      </p:sp>
      <p:sp>
        <p:nvSpPr>
          <p:cNvPr id="18" name="Text 13"/>
          <p:cNvSpPr txBox="1"/>
          <p:nvPr/>
        </p:nvSpPr>
        <p:spPr>
          <a:xfrm>
            <a:off x="457200" y="3794760"/>
            <a:ext cx="1554480" cy="731520"/>
          </a:xfrm>
          <a:prstGeom prst="rect">
            <a:avLst/>
          </a:prstGeom>
          <a:noFill/>
          <a:ln/>
        </p:spPr>
        <p:txBody>
          <a:bodyPr wrap="square" lIns="0" tIns="0" rIns="0" bIns="0" rtlCol="0" anchor="ctr"/>
          <a:lstStyle/>
          <a:p>
            <a:pPr marL="0" indent="0">
              <a:buNone/>
            </a:pPr>
            <a:r>
              <a:rPr lang="en-US" sz="4000" b="1" dirty="0">
                <a:solidFill>
                  <a:schemeClr val="accent3"/>
                </a:solidFill>
                <a:latin typeface="Cambria" pitchFamily="34" charset="0"/>
                <a:ea typeface="Cambria" pitchFamily="34" charset="-122"/>
                <a:cs typeface="Cambria" pitchFamily="34" charset="-120"/>
              </a:rPr>
              <a:t>70%+</a:t>
            </a:r>
            <a:endParaRPr lang="en-US" sz="4000" dirty="0"/>
          </a:p>
        </p:txBody>
      </p:sp>
      <p:sp>
        <p:nvSpPr>
          <p:cNvPr id="19" name="Text 14"/>
          <p:cNvSpPr txBox="1"/>
          <p:nvPr/>
        </p:nvSpPr>
        <p:spPr>
          <a:xfrm>
            <a:off x="2103120" y="3794760"/>
            <a:ext cx="6583680" cy="731520"/>
          </a:xfrm>
          <a:prstGeom prst="rect">
            <a:avLst/>
          </a:prstGeom>
          <a:noFill/>
          <a:ln/>
        </p:spPr>
        <p:txBody>
          <a:bodyPr wrap="square" lIns="0" tIns="0" rIns="0" bIns="0" rtlCol="0" anchor="ctr"/>
          <a:lstStyle/>
          <a:p>
            <a:pPr marL="0" indent="0">
              <a:buNone/>
            </a:pPr>
            <a:r>
              <a:rPr lang="en-US" sz="1400" dirty="0">
                <a:solidFill>
                  <a:schemeClr val="tx1"/>
                </a:solidFill>
              </a:rPr>
              <a:t>of outpatients report acute stress reading results alone, while those who dismiss abnormal values may delay care.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Project Objectives</a:t>
            </a:r>
            <a:endParaRPr lang="en-US" sz="3400" dirty="0"/>
          </a:p>
        </p:txBody>
      </p:sp>
      <p:sp>
        <p:nvSpPr>
          <p:cNvPr id="3" name="Objective 1 circle"/>
          <p:cNvSpPr/>
          <p:nvPr/>
        </p:nvSpPr>
        <p:spPr>
          <a:xfrm>
            <a:off x="457200" y="1399032"/>
            <a:ext cx="640080" cy="640080"/>
          </a:xfrm>
          <a:prstGeom prst="ellipse">
            <a:avLst/>
          </a:prstGeom>
          <a:solidFill>
            <a:schemeClr val="accent1"/>
          </a:solidFill>
          <a:ln/>
        </p:spPr>
      </p:sp>
      <p:pic>
        <p:nvPicPr>
          <p:cNvPr id="4" name="Objective 1 icon" descr="Objective 1"/>
          <p:cNvPicPr>
            <a:picLocks noChangeAspect="1"/>
          </p:cNvPicPr>
          <p:nvPr/>
        </p:nvPicPr>
        <p:blipFill>
          <a:blip r:embed="rId3"/>
          <a:stretch>
            <a:fillRect/>
          </a:stretch>
        </p:blipFill>
        <p:spPr>
          <a:xfrm>
            <a:off x="630022" y="1571854"/>
            <a:ext cx="294437" cy="294437"/>
          </a:xfrm>
          <a:prstGeom prst="rect">
            <a:avLst/>
          </a:prstGeom>
        </p:spPr>
      </p:pic>
      <p:sp>
        <p:nvSpPr>
          <p:cNvPr id="5" name="Text 2"/>
          <p:cNvSpPr txBox="1"/>
          <p:nvPr/>
        </p:nvSpPr>
        <p:spPr>
          <a:xfrm>
            <a:off x="1280160" y="1325880"/>
            <a:ext cx="3291840" cy="320040"/>
          </a:xfrm>
          <a:prstGeom prst="rect">
            <a:avLst/>
          </a:prstGeom>
          <a:noFill/>
          <a:ln/>
        </p:spPr>
        <p:txBody>
          <a:bodyPr wrap="square" lIns="0" tIns="0" rIns="0" bIns="0" rtlCol="0" anchor="t"/>
          <a:lstStyle/>
          <a:p>
            <a:pPr marL="0" indent="0">
              <a:buNone/>
            </a:pPr>
            <a:r>
              <a:rPr lang="en-US" sz="1800" b="1" dirty="0">
                <a:solidFill>
                  <a:schemeClr val="tx2"/>
                </a:solidFill>
              </a:rPr>
              <a:t>1. Multi-format ingestion</a:t>
            </a:r>
            <a:endParaRPr lang="en-US" sz="1800" dirty="0"/>
          </a:p>
        </p:txBody>
      </p:sp>
      <p:sp>
        <p:nvSpPr>
          <p:cNvPr id="6" name="Text 3"/>
          <p:cNvSpPr txBox="1"/>
          <p:nvPr/>
        </p:nvSpPr>
        <p:spPr>
          <a:xfrm>
            <a:off x="1280160" y="1673352"/>
            <a:ext cx="3291840" cy="548640"/>
          </a:xfrm>
          <a:prstGeom prst="rect">
            <a:avLst/>
          </a:prstGeom>
          <a:noFill/>
          <a:ln/>
        </p:spPr>
        <p:txBody>
          <a:bodyPr wrap="square" lIns="0" tIns="0" rIns="0" bIns="0" rtlCol="0" anchor="t"/>
          <a:lstStyle/>
          <a:p>
            <a:pPr marL="0" indent="0">
              <a:buNone/>
            </a:pPr>
            <a:r>
              <a:rPr lang="en-US" sz="1400" dirty="0">
                <a:solidFill>
                  <a:schemeClr val="tx1"/>
                </a:solidFill>
              </a:rPr>
              <a:t>PDF, scans and photos (up to 10 MB) read in memory with OCR</a:t>
            </a:r>
            <a:endParaRPr lang="en-US" sz="1400" dirty="0"/>
          </a:p>
        </p:txBody>
      </p:sp>
      <p:sp>
        <p:nvSpPr>
          <p:cNvPr id="7" name="Objective 2 circle"/>
          <p:cNvSpPr/>
          <p:nvPr/>
        </p:nvSpPr>
        <p:spPr>
          <a:xfrm>
            <a:off x="4709160" y="1399032"/>
            <a:ext cx="640080" cy="640080"/>
          </a:xfrm>
          <a:prstGeom prst="ellipse">
            <a:avLst/>
          </a:prstGeom>
          <a:solidFill>
            <a:schemeClr val="accent2"/>
          </a:solidFill>
          <a:ln/>
        </p:spPr>
      </p:sp>
      <p:pic>
        <p:nvPicPr>
          <p:cNvPr id="8" name="Objective 2 icon" descr="Objective 2"/>
          <p:cNvPicPr>
            <a:picLocks noChangeAspect="1"/>
          </p:cNvPicPr>
          <p:nvPr/>
        </p:nvPicPr>
        <p:blipFill>
          <a:blip r:embed="rId4"/>
          <a:stretch>
            <a:fillRect/>
          </a:stretch>
        </p:blipFill>
        <p:spPr>
          <a:xfrm>
            <a:off x="4881982" y="1571854"/>
            <a:ext cx="294437" cy="294437"/>
          </a:xfrm>
          <a:prstGeom prst="rect">
            <a:avLst/>
          </a:prstGeom>
        </p:spPr>
      </p:pic>
      <p:sp>
        <p:nvSpPr>
          <p:cNvPr id="9" name="Text 5"/>
          <p:cNvSpPr txBox="1"/>
          <p:nvPr/>
        </p:nvSpPr>
        <p:spPr>
          <a:xfrm>
            <a:off x="5532120" y="1325880"/>
            <a:ext cx="3291840" cy="320040"/>
          </a:xfrm>
          <a:prstGeom prst="rect">
            <a:avLst/>
          </a:prstGeom>
          <a:noFill/>
          <a:ln/>
        </p:spPr>
        <p:txBody>
          <a:bodyPr wrap="square" lIns="0" tIns="0" rIns="0" bIns="0" rtlCol="0" anchor="t"/>
          <a:lstStyle/>
          <a:p>
            <a:pPr marL="0" indent="0">
              <a:buNone/>
            </a:pPr>
            <a:r>
              <a:rPr lang="en-US" sz="1800" b="1" dirty="0">
                <a:solidFill>
                  <a:schemeClr val="tx2"/>
                </a:solidFill>
              </a:rPr>
              <a:t>2. Deterministic lab engine</a:t>
            </a:r>
            <a:endParaRPr lang="en-US" sz="1800" dirty="0"/>
          </a:p>
        </p:txBody>
      </p:sp>
      <p:sp>
        <p:nvSpPr>
          <p:cNvPr id="10" name="Text 6"/>
          <p:cNvSpPr txBox="1"/>
          <p:nvPr/>
        </p:nvSpPr>
        <p:spPr>
          <a:xfrm>
            <a:off x="5532120" y="1673352"/>
            <a:ext cx="3291840" cy="548640"/>
          </a:xfrm>
          <a:prstGeom prst="rect">
            <a:avLst/>
          </a:prstGeom>
          <a:noFill/>
          <a:ln/>
        </p:spPr>
        <p:txBody>
          <a:bodyPr wrap="square" lIns="0" tIns="0" rIns="0" bIns="0" rtlCol="0" anchor="t"/>
          <a:lstStyle/>
          <a:p>
            <a:pPr marL="0" indent="0">
              <a:buNone/>
            </a:pPr>
            <a:r>
              <a:rPr lang="en-US" sz="1400" dirty="0">
                <a:solidFill>
                  <a:schemeClr val="tx1"/>
                </a:solidFill>
              </a:rPr>
              <a:t>Range checks only against values printed in the report</a:t>
            </a:r>
            <a:endParaRPr lang="en-US" sz="1400" dirty="0"/>
          </a:p>
        </p:txBody>
      </p:sp>
      <p:sp>
        <p:nvSpPr>
          <p:cNvPr id="11" name="Objective 3 circle"/>
          <p:cNvSpPr/>
          <p:nvPr/>
        </p:nvSpPr>
        <p:spPr>
          <a:xfrm>
            <a:off x="457200" y="2496312"/>
            <a:ext cx="640080" cy="640080"/>
          </a:xfrm>
          <a:prstGeom prst="ellipse">
            <a:avLst/>
          </a:prstGeom>
          <a:solidFill>
            <a:schemeClr val="accent1"/>
          </a:solidFill>
          <a:ln/>
        </p:spPr>
      </p:sp>
      <p:pic>
        <p:nvPicPr>
          <p:cNvPr id="12" name="Objective 3 icon" descr="Objective 3"/>
          <p:cNvPicPr>
            <a:picLocks noChangeAspect="1"/>
          </p:cNvPicPr>
          <p:nvPr/>
        </p:nvPicPr>
        <p:blipFill>
          <a:blip r:embed="rId5"/>
          <a:stretch>
            <a:fillRect/>
          </a:stretch>
        </p:blipFill>
        <p:spPr>
          <a:xfrm>
            <a:off x="630022" y="2669134"/>
            <a:ext cx="294437" cy="294437"/>
          </a:xfrm>
          <a:prstGeom prst="rect">
            <a:avLst/>
          </a:prstGeom>
        </p:spPr>
      </p:pic>
      <p:sp>
        <p:nvSpPr>
          <p:cNvPr id="13" name="Text 8"/>
          <p:cNvSpPr txBox="1"/>
          <p:nvPr/>
        </p:nvSpPr>
        <p:spPr>
          <a:xfrm>
            <a:off x="1280160" y="2423160"/>
            <a:ext cx="3291840" cy="320040"/>
          </a:xfrm>
          <a:prstGeom prst="rect">
            <a:avLst/>
          </a:prstGeom>
          <a:noFill/>
          <a:ln/>
        </p:spPr>
        <p:txBody>
          <a:bodyPr wrap="square" lIns="0" tIns="0" rIns="0" bIns="0" rtlCol="0" anchor="t"/>
          <a:lstStyle/>
          <a:p>
            <a:pPr marL="0" indent="0">
              <a:buNone/>
            </a:pPr>
            <a:r>
              <a:rPr lang="en-US" sz="1800" b="1" dirty="0">
                <a:solidFill>
                  <a:schemeClr val="tx2"/>
                </a:solidFill>
              </a:rPr>
              <a:t>3. Biomedical NER</a:t>
            </a:r>
            <a:endParaRPr lang="en-US" sz="1800" dirty="0"/>
          </a:p>
        </p:txBody>
      </p:sp>
      <p:sp>
        <p:nvSpPr>
          <p:cNvPr id="14" name="Text 9"/>
          <p:cNvSpPr txBox="1"/>
          <p:nvPr/>
        </p:nvSpPr>
        <p:spPr>
          <a:xfrm>
            <a:off x="1280160" y="2770632"/>
            <a:ext cx="3291840" cy="548640"/>
          </a:xfrm>
          <a:prstGeom prst="rect">
            <a:avLst/>
          </a:prstGeom>
          <a:noFill/>
          <a:ln/>
        </p:spPr>
        <p:txBody>
          <a:bodyPr wrap="square" lIns="0" tIns="0" rIns="0" bIns="0" rtlCol="0" anchor="t"/>
          <a:lstStyle/>
          <a:p>
            <a:pPr marL="0" indent="0">
              <a:buNone/>
            </a:pPr>
            <a:r>
              <a:rPr lang="en-US" sz="1400" dirty="0">
                <a:solidFill>
                  <a:schemeClr val="tx1"/>
                </a:solidFill>
              </a:rPr>
              <a:t>8-class clinical taxonomy plus assertion classification</a:t>
            </a:r>
            <a:endParaRPr lang="en-US" sz="1400" dirty="0"/>
          </a:p>
        </p:txBody>
      </p:sp>
      <p:sp>
        <p:nvSpPr>
          <p:cNvPr id="15" name="Objective 4 circle"/>
          <p:cNvSpPr/>
          <p:nvPr/>
        </p:nvSpPr>
        <p:spPr>
          <a:xfrm>
            <a:off x="4709160" y="2496312"/>
            <a:ext cx="640080" cy="640080"/>
          </a:xfrm>
          <a:prstGeom prst="ellipse">
            <a:avLst/>
          </a:prstGeom>
          <a:solidFill>
            <a:schemeClr val="accent2"/>
          </a:solidFill>
          <a:ln/>
        </p:spPr>
      </p:sp>
      <p:pic>
        <p:nvPicPr>
          <p:cNvPr id="16" name="Objective 4 icon" descr="Objective 4"/>
          <p:cNvPicPr>
            <a:picLocks noChangeAspect="1"/>
          </p:cNvPicPr>
          <p:nvPr/>
        </p:nvPicPr>
        <p:blipFill>
          <a:blip r:embed="rId6"/>
          <a:stretch>
            <a:fillRect/>
          </a:stretch>
        </p:blipFill>
        <p:spPr>
          <a:xfrm>
            <a:off x="4881982" y="2669134"/>
            <a:ext cx="294437" cy="294437"/>
          </a:xfrm>
          <a:prstGeom prst="rect">
            <a:avLst/>
          </a:prstGeom>
        </p:spPr>
      </p:pic>
      <p:sp>
        <p:nvSpPr>
          <p:cNvPr id="17" name="Text 11"/>
          <p:cNvSpPr txBox="1"/>
          <p:nvPr/>
        </p:nvSpPr>
        <p:spPr>
          <a:xfrm>
            <a:off x="5532120" y="2423160"/>
            <a:ext cx="3291840" cy="320040"/>
          </a:xfrm>
          <a:prstGeom prst="rect">
            <a:avLst/>
          </a:prstGeom>
          <a:noFill/>
          <a:ln/>
        </p:spPr>
        <p:txBody>
          <a:bodyPr wrap="square" lIns="0" tIns="0" rIns="0" bIns="0" rtlCol="0" anchor="t"/>
          <a:lstStyle/>
          <a:p>
            <a:pPr marL="0" indent="0">
              <a:buNone/>
            </a:pPr>
            <a:r>
              <a:rPr lang="en-US" sz="1800" b="1" dirty="0">
                <a:solidFill>
                  <a:schemeClr val="tx2"/>
                </a:solidFill>
              </a:rPr>
              <a:t>4. Dataset grounding</a:t>
            </a:r>
            <a:endParaRPr lang="en-US" sz="1800" dirty="0"/>
          </a:p>
        </p:txBody>
      </p:sp>
      <p:sp>
        <p:nvSpPr>
          <p:cNvPr id="18" name="Text 12"/>
          <p:cNvSpPr txBox="1"/>
          <p:nvPr/>
        </p:nvSpPr>
        <p:spPr>
          <a:xfrm>
            <a:off x="5532120" y="2770632"/>
            <a:ext cx="3291840" cy="548640"/>
          </a:xfrm>
          <a:prstGeom prst="rect">
            <a:avLst/>
          </a:prstGeom>
          <a:noFill/>
          <a:ln/>
        </p:spPr>
        <p:txBody>
          <a:bodyPr wrap="square" lIns="0" tIns="0" rIns="0" bIns="0" rtlCol="0" anchor="t"/>
          <a:lstStyle/>
          <a:p>
            <a:pPr marL="0" indent="0">
              <a:buNone/>
            </a:pPr>
            <a:r>
              <a:rPr lang="en-US" sz="1400" dirty="0">
                <a:solidFill>
                  <a:schemeClr val="tx1"/>
                </a:solidFill>
              </a:rPr>
              <a:t>6,168 cleaned MTSamples and IU X-Ray reports</a:t>
            </a:r>
            <a:endParaRPr lang="en-US" sz="1400" dirty="0"/>
          </a:p>
        </p:txBody>
      </p:sp>
      <p:sp>
        <p:nvSpPr>
          <p:cNvPr id="19" name="Objective 5 circle"/>
          <p:cNvSpPr/>
          <p:nvPr/>
        </p:nvSpPr>
        <p:spPr>
          <a:xfrm>
            <a:off x="457200" y="3593592"/>
            <a:ext cx="640080" cy="640080"/>
          </a:xfrm>
          <a:prstGeom prst="ellipse">
            <a:avLst/>
          </a:prstGeom>
          <a:solidFill>
            <a:schemeClr val="accent1"/>
          </a:solidFill>
          <a:ln/>
        </p:spPr>
      </p:sp>
      <p:pic>
        <p:nvPicPr>
          <p:cNvPr id="20" name="Objective 5 icon" descr="Objective 5"/>
          <p:cNvPicPr>
            <a:picLocks noChangeAspect="1"/>
          </p:cNvPicPr>
          <p:nvPr/>
        </p:nvPicPr>
        <p:blipFill>
          <a:blip r:embed="rId7"/>
          <a:stretch>
            <a:fillRect/>
          </a:stretch>
        </p:blipFill>
        <p:spPr>
          <a:xfrm>
            <a:off x="630022" y="3766414"/>
            <a:ext cx="294437" cy="294437"/>
          </a:xfrm>
          <a:prstGeom prst="rect">
            <a:avLst/>
          </a:prstGeom>
        </p:spPr>
      </p:pic>
      <p:sp>
        <p:nvSpPr>
          <p:cNvPr id="21" name="Text 14"/>
          <p:cNvSpPr txBox="1"/>
          <p:nvPr/>
        </p:nvSpPr>
        <p:spPr>
          <a:xfrm>
            <a:off x="1280160" y="3520440"/>
            <a:ext cx="3291840" cy="320040"/>
          </a:xfrm>
          <a:prstGeom prst="rect">
            <a:avLst/>
          </a:prstGeom>
          <a:noFill/>
          <a:ln/>
        </p:spPr>
        <p:txBody>
          <a:bodyPr wrap="square" lIns="0" tIns="0" rIns="0" bIns="0" rtlCol="0" anchor="t"/>
          <a:lstStyle/>
          <a:p>
            <a:pPr marL="0" indent="0">
              <a:buNone/>
            </a:pPr>
            <a:r>
              <a:rPr lang="en-US" sz="1800" b="1" dirty="0">
                <a:solidFill>
                  <a:schemeClr val="tx2"/>
                </a:solidFill>
              </a:rPr>
              <a:t>5. Longitudinal tracker</a:t>
            </a:r>
            <a:endParaRPr lang="en-US" sz="1800" dirty="0"/>
          </a:p>
        </p:txBody>
      </p:sp>
      <p:sp>
        <p:nvSpPr>
          <p:cNvPr id="22" name="Text 15"/>
          <p:cNvSpPr txBox="1"/>
          <p:nvPr/>
        </p:nvSpPr>
        <p:spPr>
          <a:xfrm>
            <a:off x="1280160" y="3867912"/>
            <a:ext cx="3291840" cy="548640"/>
          </a:xfrm>
          <a:prstGeom prst="rect">
            <a:avLst/>
          </a:prstGeom>
          <a:noFill/>
          <a:ln/>
        </p:spPr>
        <p:txBody>
          <a:bodyPr wrap="square" lIns="0" tIns="0" rIns="0" bIns="0" rtlCol="0" anchor="t"/>
          <a:lstStyle/>
          <a:p>
            <a:pPr marL="0" indent="0">
              <a:buNone/>
            </a:pPr>
            <a:r>
              <a:rPr lang="en-US" sz="1400" dirty="0">
                <a:solidFill>
                  <a:schemeClr val="tx1"/>
                </a:solidFill>
              </a:rPr>
              <a:t>Multi-month biomarker curves with healthy baseline bands</a:t>
            </a:r>
            <a:endParaRPr lang="en-US" sz="1400" dirty="0"/>
          </a:p>
        </p:txBody>
      </p:sp>
      <p:sp>
        <p:nvSpPr>
          <p:cNvPr id="23" name="Objective 6 circle"/>
          <p:cNvSpPr/>
          <p:nvPr/>
        </p:nvSpPr>
        <p:spPr>
          <a:xfrm>
            <a:off x="4709160" y="3593592"/>
            <a:ext cx="640080" cy="640080"/>
          </a:xfrm>
          <a:prstGeom prst="ellipse">
            <a:avLst/>
          </a:prstGeom>
          <a:solidFill>
            <a:schemeClr val="accent2"/>
          </a:solidFill>
          <a:ln/>
        </p:spPr>
      </p:sp>
      <p:pic>
        <p:nvPicPr>
          <p:cNvPr id="24" name="Objective 6 icon" descr="Objective 6"/>
          <p:cNvPicPr>
            <a:picLocks noChangeAspect="1"/>
          </p:cNvPicPr>
          <p:nvPr/>
        </p:nvPicPr>
        <p:blipFill>
          <a:blip r:embed="rId8"/>
          <a:stretch>
            <a:fillRect/>
          </a:stretch>
        </p:blipFill>
        <p:spPr>
          <a:xfrm>
            <a:off x="4881982" y="3766414"/>
            <a:ext cx="294437" cy="294437"/>
          </a:xfrm>
          <a:prstGeom prst="rect">
            <a:avLst/>
          </a:prstGeom>
        </p:spPr>
      </p:pic>
      <p:sp>
        <p:nvSpPr>
          <p:cNvPr id="25" name="Text 17"/>
          <p:cNvSpPr txBox="1"/>
          <p:nvPr/>
        </p:nvSpPr>
        <p:spPr>
          <a:xfrm>
            <a:off x="5532120" y="3520440"/>
            <a:ext cx="3291840" cy="320040"/>
          </a:xfrm>
          <a:prstGeom prst="rect">
            <a:avLst/>
          </a:prstGeom>
          <a:noFill/>
          <a:ln/>
        </p:spPr>
        <p:txBody>
          <a:bodyPr wrap="square" lIns="0" tIns="0" rIns="0" bIns="0" rtlCol="0" anchor="t"/>
          <a:lstStyle/>
          <a:p>
            <a:pPr marL="0" indent="0">
              <a:buNone/>
            </a:pPr>
            <a:r>
              <a:rPr lang="en-US" sz="1800" b="1" dirty="0">
                <a:solidFill>
                  <a:schemeClr val="tx2"/>
                </a:solidFill>
              </a:rPr>
              <a:t>6. Zero-retention privacy</a:t>
            </a:r>
            <a:endParaRPr lang="en-US" sz="1800" dirty="0"/>
          </a:p>
        </p:txBody>
      </p:sp>
      <p:sp>
        <p:nvSpPr>
          <p:cNvPr id="26" name="Text 18"/>
          <p:cNvSpPr txBox="1"/>
          <p:nvPr/>
        </p:nvSpPr>
        <p:spPr>
          <a:xfrm>
            <a:off x="5532120" y="3867912"/>
            <a:ext cx="3291840" cy="548640"/>
          </a:xfrm>
          <a:prstGeom prst="rect">
            <a:avLst/>
          </a:prstGeom>
          <a:noFill/>
          <a:ln/>
        </p:spPr>
        <p:txBody>
          <a:bodyPr wrap="square" lIns="0" tIns="0" rIns="0" bIns="0" rtlCol="0" anchor="t"/>
          <a:lstStyle/>
          <a:p>
            <a:pPr marL="0" indent="0">
              <a:buNone/>
            </a:pPr>
            <a:r>
              <a:rPr lang="en-US" sz="1400" dirty="0">
                <a:solidFill>
                  <a:schemeClr val="tx1"/>
                </a:solidFill>
              </a:rPr>
              <a:t>No patient data written to disk, databases or third parties</a:t>
            </a:r>
            <a:endParaRPr lang="en-US" sz="1400" dirty="0"/>
          </a:p>
        </p:txBody>
      </p:sp>
      <p:sp>
        <p:nvSpPr>
          <p:cNvPr id="27"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Gaps in Existing Systems</a:t>
            </a:r>
            <a:endParaRPr lang="en-US" sz="34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57200">
                <a:tc>
                  <a:txBody>
                    <a:bodyPr/>
                    <a:lstStyle/>
                    <a:p>
                      <a:pPr marL="0" indent="0">
                        <a:buNone/>
                      </a:pPr>
                      <a:r>
                        <a:rPr lang="en-US" sz="1400" b="1" dirty="0">
                          <a:solidFill>
                            <a:schemeClr val="bg1"/>
                          </a:solidFill>
                        </a:rPr>
                        <a:t>System</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Lab range accuracy</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Negation handling</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Privacy</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rPr>
                        <a:t>Commercial LLMs</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No: hallucinates</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Inconsistent</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Cloud upload</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rPr>
                        <a:t>BioBERT</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No: entities only</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Needs fine-tuning</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Host-dependent</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rPr>
                        <a:t>ScispaCy</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No: entities only</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Rule add-ons</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1"/>
                          </a:solidFill>
                        </a:rPr>
                        <a:t>Local</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rPr>
                        <a:t>Hospital portals</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Partial</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3"/>
                          </a:solidFill>
                        </a:rPr>
                        <a:t>None</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buNone/>
                      </a:pPr>
                      <a:r>
                        <a:rPr lang="en-US" sz="1400" dirty="0">
                          <a:solidFill>
                            <a:schemeClr val="accent1"/>
                          </a:solidFill>
                        </a:rPr>
                        <a:t>Closed system</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b="1" dirty="0">
                          <a:solidFill>
                            <a:schemeClr val="accent1"/>
                          </a:solidFill>
                        </a:rPr>
                        <a:t>MediRep</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Yes: strict intervals</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Yes: 5 assertion states</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Yes: 100% in-memory</a:t>
                      </a:r>
                      <a:endParaRPr lang="en-US" sz="1400" dirty="0"/>
                    </a:p>
                  </a:txBody>
                  <a:tcPr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akeaway card"/>
          <p:cNvSpPr/>
          <p:nvPr/>
        </p:nvSpPr>
        <p:spPr>
          <a:xfrm>
            <a:off x="457200" y="4160520"/>
            <a:ext cx="8229600" cy="502920"/>
          </a:xfrm>
          <a:prstGeom prst="roundRect">
            <a:avLst>
              <a:gd name="adj" fmla="val 18182"/>
            </a:avLst>
          </a:prstGeom>
          <a:solidFill>
            <a:schemeClr val="bg2"/>
          </a:solidFill>
          <a:ln/>
        </p:spPr>
      </p:sp>
      <p:sp>
        <p:nvSpPr>
          <p:cNvPr id="3" name="Text 2"/>
          <p:cNvSpPr txBox="1"/>
          <p:nvPr/>
        </p:nvSpPr>
        <p:spPr>
          <a:xfrm>
            <a:off x="640080" y="4160520"/>
            <a:ext cx="7863840" cy="502920"/>
          </a:xfrm>
          <a:prstGeom prst="rect">
            <a:avLst/>
          </a:prstGeom>
          <a:noFill/>
          <a:ln/>
        </p:spPr>
        <p:txBody>
          <a:bodyPr wrap="square" lIns="0" tIns="0" rIns="0" bIns="0" rtlCol="0" anchor="ctr"/>
          <a:lstStyle/>
          <a:p>
            <a:pPr marL="0" indent="0">
              <a:buNone/>
            </a:pPr>
            <a:r>
              <a:rPr lang="en-US" sz="1400" b="1" dirty="0">
                <a:solidFill>
                  <a:schemeClr val="tx2"/>
                </a:solidFill>
              </a:rPr>
              <a:t>Only MediRep closes all three gaps: range math, negation, and privacy.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System Architecture</a:t>
            </a:r>
            <a:endParaRPr lang="en-US" sz="3400" dirty="0"/>
          </a:p>
        </p:txBody>
      </p:sp>
      <p:sp>
        <p:nvSpPr>
          <p:cNvPr id="3" name="Layer card 1"/>
          <p:cNvSpPr/>
          <p:nvPr/>
        </p:nvSpPr>
        <p:spPr>
          <a:xfrm>
            <a:off x="457200" y="1280160"/>
            <a:ext cx="2587752" cy="1554480"/>
          </a:xfrm>
          <a:prstGeom prst="roundRect">
            <a:avLst>
              <a:gd name="adj" fmla="val 5882"/>
            </a:avLst>
          </a:prstGeom>
          <a:solidFill>
            <a:schemeClr val="bg2"/>
          </a:solidFill>
          <a:ln/>
        </p:spPr>
      </p:sp>
      <p:sp>
        <p:nvSpPr>
          <p:cNvPr id="4" name="Layer badge 1"/>
          <p:cNvSpPr/>
          <p:nvPr/>
        </p:nvSpPr>
        <p:spPr>
          <a:xfrm>
            <a:off x="640080" y="1444752"/>
            <a:ext cx="365760" cy="365760"/>
          </a:xfrm>
          <a:prstGeom prst="ellipse">
            <a:avLst/>
          </a:prstGeom>
          <a:solidFill>
            <a:schemeClr val="accent1"/>
          </a:solidFill>
          <a:ln/>
        </p:spPr>
      </p:sp>
      <p:sp>
        <p:nvSpPr>
          <p:cNvPr id="5" name="Text 3"/>
          <p:cNvSpPr txBox="1"/>
          <p:nvPr/>
        </p:nvSpPr>
        <p:spPr>
          <a:xfrm>
            <a:off x="640080" y="1444752"/>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115568" y="1444752"/>
            <a:ext cx="1828800" cy="365760"/>
          </a:xfrm>
          <a:prstGeom prst="rect">
            <a:avLst/>
          </a:prstGeom>
          <a:noFill/>
          <a:ln/>
        </p:spPr>
        <p:txBody>
          <a:bodyPr wrap="square" lIns="0" tIns="0" rIns="0" bIns="0" rtlCol="0" anchor="ctr"/>
          <a:lstStyle/>
          <a:p>
            <a:pPr marL="0" indent="0">
              <a:buNone/>
            </a:pPr>
            <a:r>
              <a:rPr lang="en-US" sz="1600" b="1" dirty="0">
                <a:solidFill>
                  <a:schemeClr val="tx2"/>
                </a:solidFill>
              </a:rPr>
              <a:t>Frontend SPA</a:t>
            </a:r>
            <a:endParaRPr lang="en-US" sz="1600" dirty="0"/>
          </a:p>
        </p:txBody>
      </p:sp>
      <p:sp>
        <p:nvSpPr>
          <p:cNvPr id="7" name="Text 5"/>
          <p:cNvSpPr txBox="1"/>
          <p:nvPr/>
        </p:nvSpPr>
        <p:spPr>
          <a:xfrm>
            <a:off x="640080" y="1965960"/>
            <a:ext cx="2240280" cy="777240"/>
          </a:xfrm>
          <a:prstGeom prst="rect">
            <a:avLst/>
          </a:prstGeom>
          <a:noFill/>
          <a:ln/>
        </p:spPr>
        <p:txBody>
          <a:bodyPr wrap="square" lIns="0" tIns="0" rIns="0" bIns="0" rtlCol="0" anchor="t"/>
          <a:lstStyle/>
          <a:p>
            <a:pPr marL="0" indent="0">
              <a:buNone/>
            </a:pPr>
            <a:r>
              <a:rPr lang="en-US" sz="1400" dirty="0">
                <a:solidFill>
                  <a:schemeClr val="tx1"/>
                </a:solidFill>
              </a:rPr>
              <a:t>React 19, TypeScript, Tailwind; drag-and-drop upload and SVG charts</a:t>
            </a:r>
            <a:endParaRPr lang="en-US" sz="1400" dirty="0"/>
          </a:p>
        </p:txBody>
      </p:sp>
      <p:sp>
        <p:nvSpPr>
          <p:cNvPr id="8" name="Layer card 2"/>
          <p:cNvSpPr/>
          <p:nvPr/>
        </p:nvSpPr>
        <p:spPr>
          <a:xfrm>
            <a:off x="3273552" y="1280160"/>
            <a:ext cx="2587752" cy="1554480"/>
          </a:xfrm>
          <a:prstGeom prst="roundRect">
            <a:avLst>
              <a:gd name="adj" fmla="val 5882"/>
            </a:avLst>
          </a:prstGeom>
          <a:solidFill>
            <a:schemeClr val="bg2"/>
          </a:solidFill>
          <a:ln/>
        </p:spPr>
      </p:sp>
      <p:sp>
        <p:nvSpPr>
          <p:cNvPr id="9" name="Layer badge 2"/>
          <p:cNvSpPr/>
          <p:nvPr/>
        </p:nvSpPr>
        <p:spPr>
          <a:xfrm>
            <a:off x="3456432" y="1444752"/>
            <a:ext cx="365760" cy="365760"/>
          </a:xfrm>
          <a:prstGeom prst="ellipse">
            <a:avLst/>
          </a:prstGeom>
          <a:solidFill>
            <a:schemeClr val="accent1"/>
          </a:solidFill>
          <a:ln/>
        </p:spPr>
      </p:sp>
      <p:sp>
        <p:nvSpPr>
          <p:cNvPr id="10" name="Text 8"/>
          <p:cNvSpPr txBox="1"/>
          <p:nvPr/>
        </p:nvSpPr>
        <p:spPr>
          <a:xfrm>
            <a:off x="3456432" y="1444752"/>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3931920" y="1444752"/>
            <a:ext cx="1828800" cy="365760"/>
          </a:xfrm>
          <a:prstGeom prst="rect">
            <a:avLst/>
          </a:prstGeom>
          <a:noFill/>
          <a:ln/>
        </p:spPr>
        <p:txBody>
          <a:bodyPr wrap="square" lIns="0" tIns="0" rIns="0" bIns="0" rtlCol="0" anchor="ctr"/>
          <a:lstStyle/>
          <a:p>
            <a:pPr marL="0" indent="0">
              <a:buNone/>
            </a:pPr>
            <a:r>
              <a:rPr lang="en-US" sz="1600" b="1" dirty="0">
                <a:solidFill>
                  <a:schemeClr val="tx2"/>
                </a:solidFill>
              </a:rPr>
              <a:t>FastAPI server</a:t>
            </a:r>
            <a:endParaRPr lang="en-US" sz="1600" dirty="0"/>
          </a:p>
        </p:txBody>
      </p:sp>
      <p:sp>
        <p:nvSpPr>
          <p:cNvPr id="12" name="Text 10"/>
          <p:cNvSpPr txBox="1"/>
          <p:nvPr/>
        </p:nvSpPr>
        <p:spPr>
          <a:xfrm>
            <a:off x="3456432" y="1965960"/>
            <a:ext cx="2240280" cy="777240"/>
          </a:xfrm>
          <a:prstGeom prst="rect">
            <a:avLst/>
          </a:prstGeom>
          <a:noFill/>
          <a:ln/>
        </p:spPr>
        <p:txBody>
          <a:bodyPr wrap="square" lIns="0" tIns="0" rIns="0" bIns="0" rtlCol="0" anchor="t"/>
          <a:lstStyle/>
          <a:p>
            <a:pPr marL="0" indent="0">
              <a:buNone/>
            </a:pPr>
            <a:r>
              <a:rPr lang="en-US" sz="1400" dirty="0">
                <a:solidFill>
                  <a:schemeClr val="tx1"/>
                </a:solidFill>
              </a:rPr>
              <a:t>Validates uploads, schedules background tasks, serves REST responses</a:t>
            </a:r>
            <a:endParaRPr lang="en-US" sz="1400" dirty="0"/>
          </a:p>
        </p:txBody>
      </p:sp>
      <p:sp>
        <p:nvSpPr>
          <p:cNvPr id="13" name="Layer card 3"/>
          <p:cNvSpPr/>
          <p:nvPr/>
        </p:nvSpPr>
        <p:spPr>
          <a:xfrm>
            <a:off x="6089904" y="1280160"/>
            <a:ext cx="2587752" cy="1554480"/>
          </a:xfrm>
          <a:prstGeom prst="roundRect">
            <a:avLst>
              <a:gd name="adj" fmla="val 5882"/>
            </a:avLst>
          </a:prstGeom>
          <a:solidFill>
            <a:schemeClr val="bg2"/>
          </a:solidFill>
          <a:ln/>
        </p:spPr>
      </p:sp>
      <p:sp>
        <p:nvSpPr>
          <p:cNvPr id="14" name="Layer badge 3"/>
          <p:cNvSpPr/>
          <p:nvPr/>
        </p:nvSpPr>
        <p:spPr>
          <a:xfrm>
            <a:off x="6272784" y="1444752"/>
            <a:ext cx="365760" cy="365760"/>
          </a:xfrm>
          <a:prstGeom prst="ellipse">
            <a:avLst/>
          </a:prstGeom>
          <a:solidFill>
            <a:schemeClr val="accent1"/>
          </a:solidFill>
          <a:ln/>
        </p:spPr>
      </p:sp>
      <p:sp>
        <p:nvSpPr>
          <p:cNvPr id="15" name="Text 13"/>
          <p:cNvSpPr txBox="1"/>
          <p:nvPr/>
        </p:nvSpPr>
        <p:spPr>
          <a:xfrm>
            <a:off x="6272784" y="1444752"/>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6748272" y="1444752"/>
            <a:ext cx="1828800" cy="365760"/>
          </a:xfrm>
          <a:prstGeom prst="rect">
            <a:avLst/>
          </a:prstGeom>
          <a:noFill/>
          <a:ln/>
        </p:spPr>
        <p:txBody>
          <a:bodyPr wrap="square" lIns="0" tIns="0" rIns="0" bIns="0" rtlCol="0" anchor="ctr"/>
          <a:lstStyle/>
          <a:p>
            <a:pPr marL="0" indent="0">
              <a:buNone/>
            </a:pPr>
            <a:r>
              <a:rPr lang="en-US" sz="1600" b="1" dirty="0">
                <a:solidFill>
                  <a:schemeClr val="tx2"/>
                </a:solidFill>
              </a:rPr>
              <a:t>Ingestion &amp; OCR</a:t>
            </a:r>
            <a:endParaRPr lang="en-US" sz="1600" dirty="0"/>
          </a:p>
        </p:txBody>
      </p:sp>
      <p:sp>
        <p:nvSpPr>
          <p:cNvPr id="17" name="Text 15"/>
          <p:cNvSpPr txBox="1"/>
          <p:nvPr/>
        </p:nvSpPr>
        <p:spPr>
          <a:xfrm>
            <a:off x="6272784" y="1965960"/>
            <a:ext cx="2240280" cy="777240"/>
          </a:xfrm>
          <a:prstGeom prst="rect">
            <a:avLst/>
          </a:prstGeom>
          <a:noFill/>
          <a:ln/>
        </p:spPr>
        <p:txBody>
          <a:bodyPr wrap="square" lIns="0" tIns="0" rIns="0" bIns="0" rtlCol="0" anchor="t"/>
          <a:lstStyle/>
          <a:p>
            <a:pPr marL="0" indent="0">
              <a:buNone/>
            </a:pPr>
            <a:r>
              <a:rPr lang="en-US" sz="1400" dirty="0">
                <a:solidFill>
                  <a:schemeClr val="tx1"/>
                </a:solidFill>
              </a:rPr>
              <a:t>PyMuPDF for digital PDFs, Tesseract for scanned reports</a:t>
            </a:r>
            <a:endParaRPr lang="en-US" sz="1400" dirty="0"/>
          </a:p>
        </p:txBody>
      </p:sp>
      <p:sp>
        <p:nvSpPr>
          <p:cNvPr id="18" name="Layer card 4"/>
          <p:cNvSpPr/>
          <p:nvPr/>
        </p:nvSpPr>
        <p:spPr>
          <a:xfrm>
            <a:off x="457200" y="3017520"/>
            <a:ext cx="2587752" cy="1554480"/>
          </a:xfrm>
          <a:prstGeom prst="roundRect">
            <a:avLst>
              <a:gd name="adj" fmla="val 5882"/>
            </a:avLst>
          </a:prstGeom>
          <a:solidFill>
            <a:schemeClr val="bg2"/>
          </a:solidFill>
          <a:ln/>
        </p:spPr>
      </p:sp>
      <p:sp>
        <p:nvSpPr>
          <p:cNvPr id="19" name="Layer badge 4"/>
          <p:cNvSpPr/>
          <p:nvPr/>
        </p:nvSpPr>
        <p:spPr>
          <a:xfrm>
            <a:off x="640080" y="3182112"/>
            <a:ext cx="365760" cy="365760"/>
          </a:xfrm>
          <a:prstGeom prst="ellipse">
            <a:avLst/>
          </a:prstGeom>
          <a:solidFill>
            <a:schemeClr val="accent3"/>
          </a:solidFill>
          <a:ln/>
        </p:spPr>
      </p:sp>
      <p:sp>
        <p:nvSpPr>
          <p:cNvPr id="20" name="Text 18"/>
          <p:cNvSpPr txBox="1"/>
          <p:nvPr/>
        </p:nvSpPr>
        <p:spPr>
          <a:xfrm>
            <a:off x="640080" y="3182112"/>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1115568" y="3182112"/>
            <a:ext cx="1828800" cy="365760"/>
          </a:xfrm>
          <a:prstGeom prst="rect">
            <a:avLst/>
          </a:prstGeom>
          <a:noFill/>
          <a:ln/>
        </p:spPr>
        <p:txBody>
          <a:bodyPr wrap="square" lIns="0" tIns="0" rIns="0" bIns="0" rtlCol="0" anchor="ctr"/>
          <a:lstStyle/>
          <a:p>
            <a:pPr marL="0" indent="0">
              <a:buNone/>
            </a:pPr>
            <a:r>
              <a:rPr lang="en-US" sz="1600" b="1" dirty="0">
                <a:solidFill>
                  <a:schemeClr val="tx2"/>
                </a:solidFill>
              </a:rPr>
              <a:t>Range engine</a:t>
            </a:r>
            <a:endParaRPr lang="en-US" sz="1600" dirty="0"/>
          </a:p>
        </p:txBody>
      </p:sp>
      <p:sp>
        <p:nvSpPr>
          <p:cNvPr id="22" name="Text 20"/>
          <p:cNvSpPr txBox="1"/>
          <p:nvPr/>
        </p:nvSpPr>
        <p:spPr>
          <a:xfrm>
            <a:off x="640080" y="3703320"/>
            <a:ext cx="2240280" cy="777240"/>
          </a:xfrm>
          <a:prstGeom prst="rect">
            <a:avLst/>
          </a:prstGeom>
          <a:noFill/>
          <a:ln/>
        </p:spPr>
        <p:txBody>
          <a:bodyPr wrap="square" lIns="0" tIns="0" rIns="0" bIns="0" rtlCol="0" anchor="t"/>
          <a:lstStyle/>
          <a:p>
            <a:pPr marL="0" indent="0">
              <a:buNone/>
            </a:pPr>
            <a:r>
              <a:rPr lang="en-US" sz="1400" dirty="0">
                <a:solidFill>
                  <a:schemeClr val="tx1"/>
                </a:solidFill>
              </a:rPr>
              <a:t>Regex extraction and strict interval checks, no generative math</a:t>
            </a:r>
            <a:endParaRPr lang="en-US" sz="1400" dirty="0"/>
          </a:p>
        </p:txBody>
      </p:sp>
      <p:sp>
        <p:nvSpPr>
          <p:cNvPr id="23" name="Layer card 5"/>
          <p:cNvSpPr/>
          <p:nvPr/>
        </p:nvSpPr>
        <p:spPr>
          <a:xfrm>
            <a:off x="3273552" y="3017520"/>
            <a:ext cx="2587752" cy="1554480"/>
          </a:xfrm>
          <a:prstGeom prst="roundRect">
            <a:avLst>
              <a:gd name="adj" fmla="val 5882"/>
            </a:avLst>
          </a:prstGeom>
          <a:solidFill>
            <a:schemeClr val="bg2"/>
          </a:solidFill>
          <a:ln/>
        </p:spPr>
      </p:sp>
      <p:sp>
        <p:nvSpPr>
          <p:cNvPr id="24" name="Layer badge 5"/>
          <p:cNvSpPr/>
          <p:nvPr/>
        </p:nvSpPr>
        <p:spPr>
          <a:xfrm>
            <a:off x="3456432" y="3182112"/>
            <a:ext cx="365760" cy="365760"/>
          </a:xfrm>
          <a:prstGeom prst="ellipse">
            <a:avLst/>
          </a:prstGeom>
          <a:solidFill>
            <a:schemeClr val="accent1"/>
          </a:solidFill>
          <a:ln/>
        </p:spPr>
      </p:sp>
      <p:sp>
        <p:nvSpPr>
          <p:cNvPr id="25" name="Text 23"/>
          <p:cNvSpPr txBox="1"/>
          <p:nvPr/>
        </p:nvSpPr>
        <p:spPr>
          <a:xfrm>
            <a:off x="3456432" y="3182112"/>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Text 24"/>
          <p:cNvSpPr txBox="1"/>
          <p:nvPr/>
        </p:nvSpPr>
        <p:spPr>
          <a:xfrm>
            <a:off x="3931920" y="3182112"/>
            <a:ext cx="1828800" cy="365760"/>
          </a:xfrm>
          <a:prstGeom prst="rect">
            <a:avLst/>
          </a:prstGeom>
          <a:noFill/>
          <a:ln/>
        </p:spPr>
        <p:txBody>
          <a:bodyPr wrap="square" lIns="0" tIns="0" rIns="0" bIns="0" rtlCol="0" anchor="ctr"/>
          <a:lstStyle/>
          <a:p>
            <a:pPr marL="0" indent="0">
              <a:buNone/>
            </a:pPr>
            <a:r>
              <a:rPr lang="en-US" sz="1600" b="1" dirty="0">
                <a:solidFill>
                  <a:schemeClr val="tx2"/>
                </a:solidFill>
              </a:rPr>
              <a:t>NER engine</a:t>
            </a:r>
            <a:endParaRPr lang="en-US" sz="1600" dirty="0"/>
          </a:p>
        </p:txBody>
      </p:sp>
      <p:sp>
        <p:nvSpPr>
          <p:cNvPr id="27" name="Text 25"/>
          <p:cNvSpPr txBox="1"/>
          <p:nvPr/>
        </p:nvSpPr>
        <p:spPr>
          <a:xfrm>
            <a:off x="3456432" y="3703320"/>
            <a:ext cx="2240280" cy="777240"/>
          </a:xfrm>
          <a:prstGeom prst="rect">
            <a:avLst/>
          </a:prstGeom>
          <a:noFill/>
          <a:ln/>
        </p:spPr>
        <p:txBody>
          <a:bodyPr wrap="square" lIns="0" tIns="0" rIns="0" bIns="0" rtlCol="0" anchor="t"/>
          <a:lstStyle/>
          <a:p>
            <a:pPr marL="0" indent="0">
              <a:buNone/>
            </a:pPr>
            <a:r>
              <a:rPr lang="en-US" sz="1400" dirty="0">
                <a:solidFill>
                  <a:schemeClr val="tx1"/>
                </a:solidFill>
              </a:rPr>
              <a:t>Tags 8 entity classes and maps them to plain explanations</a:t>
            </a:r>
            <a:endParaRPr lang="en-US" sz="1400" dirty="0"/>
          </a:p>
        </p:txBody>
      </p:sp>
      <p:sp>
        <p:nvSpPr>
          <p:cNvPr id="28" name="Layer card 6"/>
          <p:cNvSpPr/>
          <p:nvPr/>
        </p:nvSpPr>
        <p:spPr>
          <a:xfrm>
            <a:off x="6089904" y="3017520"/>
            <a:ext cx="2587752" cy="1554480"/>
          </a:xfrm>
          <a:prstGeom prst="roundRect">
            <a:avLst>
              <a:gd name="adj" fmla="val 5882"/>
            </a:avLst>
          </a:prstGeom>
          <a:solidFill>
            <a:schemeClr val="bg2"/>
          </a:solidFill>
          <a:ln/>
        </p:spPr>
      </p:sp>
      <p:sp>
        <p:nvSpPr>
          <p:cNvPr id="29" name="Layer badge 6"/>
          <p:cNvSpPr/>
          <p:nvPr/>
        </p:nvSpPr>
        <p:spPr>
          <a:xfrm>
            <a:off x="6272784" y="3182112"/>
            <a:ext cx="365760" cy="365760"/>
          </a:xfrm>
          <a:prstGeom prst="ellipse">
            <a:avLst/>
          </a:prstGeom>
          <a:solidFill>
            <a:schemeClr val="accent1"/>
          </a:solidFill>
          <a:ln/>
        </p:spPr>
      </p:sp>
      <p:sp>
        <p:nvSpPr>
          <p:cNvPr id="30" name="Text 28"/>
          <p:cNvSpPr txBox="1"/>
          <p:nvPr/>
        </p:nvSpPr>
        <p:spPr>
          <a:xfrm>
            <a:off x="6272784" y="3182112"/>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1" name="Text 29"/>
          <p:cNvSpPr txBox="1"/>
          <p:nvPr/>
        </p:nvSpPr>
        <p:spPr>
          <a:xfrm>
            <a:off x="6748272" y="3182112"/>
            <a:ext cx="1828800" cy="365760"/>
          </a:xfrm>
          <a:prstGeom prst="rect">
            <a:avLst/>
          </a:prstGeom>
          <a:noFill/>
          <a:ln/>
        </p:spPr>
        <p:txBody>
          <a:bodyPr wrap="square" lIns="0" tIns="0" rIns="0" bIns="0" rtlCol="0" anchor="ctr"/>
          <a:lstStyle/>
          <a:p>
            <a:pPr marL="0" indent="0">
              <a:buNone/>
            </a:pPr>
            <a:r>
              <a:rPr lang="en-US" sz="1600" b="1" dirty="0">
                <a:solidFill>
                  <a:schemeClr val="tx2"/>
                </a:solidFill>
              </a:rPr>
              <a:t>Trend tracker</a:t>
            </a:r>
            <a:endParaRPr lang="en-US" sz="1600" dirty="0"/>
          </a:p>
        </p:txBody>
      </p:sp>
      <p:sp>
        <p:nvSpPr>
          <p:cNvPr id="32" name="Text 30"/>
          <p:cNvSpPr txBox="1"/>
          <p:nvPr/>
        </p:nvSpPr>
        <p:spPr>
          <a:xfrm>
            <a:off x="6272784" y="3703320"/>
            <a:ext cx="2240280" cy="777240"/>
          </a:xfrm>
          <a:prstGeom prst="rect">
            <a:avLst/>
          </a:prstGeom>
          <a:noFill/>
          <a:ln/>
        </p:spPr>
        <p:txBody>
          <a:bodyPr wrap="square" lIns="0" tIns="0" rIns="0" bIns="0" rtlCol="0" anchor="t"/>
          <a:lstStyle/>
          <a:p>
            <a:pPr marL="0" indent="0">
              <a:buNone/>
            </a:pPr>
            <a:r>
              <a:rPr lang="en-US" sz="1400" dirty="0">
                <a:solidFill>
                  <a:schemeClr val="tx1"/>
                </a:solidFill>
              </a:rPr>
              <a:t>Stores serial results and draws trajectory curves with deltas</a:t>
            </a:r>
            <a:endParaRPr lang="en-US" sz="1400" dirty="0"/>
          </a:p>
        </p:txBody>
      </p:sp>
      <p:sp>
        <p:nvSpPr>
          <p:cNvPr id="3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Seven-Stage Analysis Pipeline</a:t>
            </a:r>
            <a:endParaRPr lang="en-US" sz="3400" dirty="0"/>
          </a:p>
        </p:txBody>
      </p:sp>
      <p:sp>
        <p:nvSpPr>
          <p:cNvPr id="3" name="Pipeline connector"/>
          <p:cNvSpPr/>
          <p:nvPr/>
        </p:nvSpPr>
        <p:spPr>
          <a:xfrm>
            <a:off x="685800" y="1527048"/>
            <a:ext cx="0" cy="2852928"/>
          </a:xfrm>
          <a:prstGeom prst="line">
            <a:avLst/>
          </a:prstGeom>
          <a:noFill/>
          <a:ln w="25400">
            <a:solidFill>
              <a:schemeClr val="accent6"/>
            </a:solidFill>
            <a:prstDash val="solid"/>
          </a:ln>
        </p:spPr>
      </p:sp>
      <p:sp>
        <p:nvSpPr>
          <p:cNvPr id="4" name="Stage badge 1"/>
          <p:cNvSpPr/>
          <p:nvPr/>
        </p:nvSpPr>
        <p:spPr>
          <a:xfrm>
            <a:off x="457200" y="1325880"/>
            <a:ext cx="411480" cy="411480"/>
          </a:xfrm>
          <a:prstGeom prst="ellipse">
            <a:avLst/>
          </a:prstGeom>
          <a:solidFill>
            <a:schemeClr val="accent1"/>
          </a:solidFill>
          <a:ln/>
        </p:spPr>
      </p:sp>
      <p:sp>
        <p:nvSpPr>
          <p:cNvPr id="5" name="Text 3"/>
          <p:cNvSpPr txBox="1"/>
          <p:nvPr/>
        </p:nvSpPr>
        <p:spPr>
          <a:xfrm>
            <a:off x="457200" y="13258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097280" y="1325880"/>
            <a:ext cx="7589520" cy="411480"/>
          </a:xfrm>
          <a:prstGeom prst="rect">
            <a:avLst/>
          </a:prstGeom>
          <a:noFill/>
          <a:ln/>
        </p:spPr>
        <p:txBody>
          <a:bodyPr wrap="square" lIns="0" tIns="0" rIns="0" bIns="0" rtlCol="0" anchor="ctr"/>
          <a:lstStyle/>
          <a:p>
            <a:pPr marL="0" indent="0">
              <a:buNone/>
            </a:pPr>
            <a:r>
              <a:rPr lang="en-US" sz="1400" b="1" dirty="0">
                <a:solidFill>
                  <a:schemeClr val="tx2"/>
                </a:solidFill>
              </a:rPr>
              <a:t>Ingestion</a:t>
            </a:r>
            <a:r>
              <a:rPr lang="en-US" sz="1400" dirty="0">
                <a:solidFill>
                  <a:schemeClr val="tx1"/>
                </a:solidFill>
              </a:rPr>
              <a:t>  validates type and the 10 MB limit, then PyMuPDF text or OCR</a:t>
            </a:r>
            <a:endParaRPr lang="en-US" sz="1400" dirty="0"/>
          </a:p>
        </p:txBody>
      </p:sp>
      <p:sp>
        <p:nvSpPr>
          <p:cNvPr id="7" name="Stage badge 2"/>
          <p:cNvSpPr/>
          <p:nvPr/>
        </p:nvSpPr>
        <p:spPr>
          <a:xfrm>
            <a:off x="457200" y="1801368"/>
            <a:ext cx="411480" cy="411480"/>
          </a:xfrm>
          <a:prstGeom prst="ellipse">
            <a:avLst/>
          </a:prstGeom>
          <a:solidFill>
            <a:schemeClr val="accent1"/>
          </a:solidFill>
          <a:ln/>
        </p:spPr>
      </p:sp>
      <p:sp>
        <p:nvSpPr>
          <p:cNvPr id="8" name="Text 6"/>
          <p:cNvSpPr txBox="1"/>
          <p:nvPr/>
        </p:nvSpPr>
        <p:spPr>
          <a:xfrm>
            <a:off x="457200" y="1801368"/>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7"/>
          <p:cNvSpPr txBox="1"/>
          <p:nvPr/>
        </p:nvSpPr>
        <p:spPr>
          <a:xfrm>
            <a:off x="1097280" y="1801368"/>
            <a:ext cx="7589520" cy="411480"/>
          </a:xfrm>
          <a:prstGeom prst="rect">
            <a:avLst/>
          </a:prstGeom>
          <a:noFill/>
          <a:ln/>
        </p:spPr>
        <p:txBody>
          <a:bodyPr wrap="square" lIns="0" tIns="0" rIns="0" bIns="0" rtlCol="0" anchor="ctr"/>
          <a:lstStyle/>
          <a:p>
            <a:pPr marL="0" indent="0">
              <a:buNone/>
            </a:pPr>
            <a:r>
              <a:rPr lang="en-US" sz="1400" b="1" dirty="0">
                <a:solidFill>
                  <a:schemeClr val="tx2"/>
                </a:solidFill>
              </a:rPr>
              <a:t>Lab engine</a:t>
            </a:r>
            <a:r>
              <a:rPr lang="en-US" sz="1400" dirty="0">
                <a:solidFill>
                  <a:schemeClr val="tx1"/>
                </a:solidFill>
              </a:rPr>
              <a:t>  regex pulls values and flags High, Low or Normal vs printed ranges</a:t>
            </a:r>
            <a:endParaRPr lang="en-US" sz="1400" dirty="0"/>
          </a:p>
        </p:txBody>
      </p:sp>
      <p:sp>
        <p:nvSpPr>
          <p:cNvPr id="10" name="Stage badge 3"/>
          <p:cNvSpPr/>
          <p:nvPr/>
        </p:nvSpPr>
        <p:spPr>
          <a:xfrm>
            <a:off x="457200" y="2276856"/>
            <a:ext cx="411480" cy="411480"/>
          </a:xfrm>
          <a:prstGeom prst="ellipse">
            <a:avLst/>
          </a:prstGeom>
          <a:solidFill>
            <a:schemeClr val="accent1"/>
          </a:solidFill>
          <a:ln/>
        </p:spPr>
      </p:sp>
      <p:sp>
        <p:nvSpPr>
          <p:cNvPr id="11" name="Text 9"/>
          <p:cNvSpPr txBox="1"/>
          <p:nvPr/>
        </p:nvSpPr>
        <p:spPr>
          <a:xfrm>
            <a:off x="457200" y="2276856"/>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Text 10"/>
          <p:cNvSpPr txBox="1"/>
          <p:nvPr/>
        </p:nvSpPr>
        <p:spPr>
          <a:xfrm>
            <a:off x="1097280" y="2276856"/>
            <a:ext cx="7589520" cy="411480"/>
          </a:xfrm>
          <a:prstGeom prst="rect">
            <a:avLst/>
          </a:prstGeom>
          <a:noFill/>
          <a:ln/>
        </p:spPr>
        <p:txBody>
          <a:bodyPr wrap="square" lIns="0" tIns="0" rIns="0" bIns="0" rtlCol="0" anchor="ctr"/>
          <a:lstStyle/>
          <a:p>
            <a:pPr marL="0" indent="0">
              <a:buNone/>
            </a:pPr>
            <a:r>
              <a:rPr lang="en-US" sz="1400" b="1" dirty="0">
                <a:solidFill>
                  <a:schemeClr val="tx2"/>
                </a:solidFill>
              </a:rPr>
              <a:t>NER</a:t>
            </a:r>
            <a:r>
              <a:rPr lang="en-US" sz="1400" dirty="0">
                <a:solidFill>
                  <a:schemeClr val="tx1"/>
                </a:solidFill>
              </a:rPr>
              <a:t>  tags 8 entity classes with offsets and confidence scores</a:t>
            </a:r>
            <a:endParaRPr lang="en-US" sz="1400" dirty="0"/>
          </a:p>
        </p:txBody>
      </p:sp>
      <p:sp>
        <p:nvSpPr>
          <p:cNvPr id="13" name="Stage badge 4"/>
          <p:cNvSpPr/>
          <p:nvPr/>
        </p:nvSpPr>
        <p:spPr>
          <a:xfrm>
            <a:off x="457200" y="2752344"/>
            <a:ext cx="411480" cy="411480"/>
          </a:xfrm>
          <a:prstGeom prst="ellipse">
            <a:avLst/>
          </a:prstGeom>
          <a:solidFill>
            <a:schemeClr val="accent1"/>
          </a:solidFill>
          <a:ln/>
        </p:spPr>
      </p:sp>
      <p:sp>
        <p:nvSpPr>
          <p:cNvPr id="14" name="Text 12"/>
          <p:cNvSpPr txBox="1"/>
          <p:nvPr/>
        </p:nvSpPr>
        <p:spPr>
          <a:xfrm>
            <a:off x="457200" y="2752344"/>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5" name="Text 13"/>
          <p:cNvSpPr txBox="1"/>
          <p:nvPr/>
        </p:nvSpPr>
        <p:spPr>
          <a:xfrm>
            <a:off x="1097280" y="2752344"/>
            <a:ext cx="7589520" cy="411480"/>
          </a:xfrm>
          <a:prstGeom prst="rect">
            <a:avLst/>
          </a:prstGeom>
          <a:noFill/>
          <a:ln/>
        </p:spPr>
        <p:txBody>
          <a:bodyPr wrap="square" lIns="0" tIns="0" rIns="0" bIns="0" rtlCol="0" anchor="ctr"/>
          <a:lstStyle/>
          <a:p>
            <a:pPr marL="0" indent="0">
              <a:buNone/>
            </a:pPr>
            <a:r>
              <a:rPr lang="en-US" sz="1400" b="1" dirty="0">
                <a:solidFill>
                  <a:schemeClr val="tx2"/>
                </a:solidFill>
              </a:rPr>
              <a:t>Glossary</a:t>
            </a:r>
            <a:r>
              <a:rPr lang="en-US" sz="1400" dirty="0">
                <a:solidFill>
                  <a:schemeClr val="tx1"/>
                </a:solidFill>
              </a:rPr>
              <a:t>  plain-language definitions at a 6th–8th grade reading level</a:t>
            </a:r>
            <a:endParaRPr lang="en-US" sz="1400" dirty="0"/>
          </a:p>
        </p:txBody>
      </p:sp>
      <p:sp>
        <p:nvSpPr>
          <p:cNvPr id="16" name="Stage badge 5"/>
          <p:cNvSpPr/>
          <p:nvPr/>
        </p:nvSpPr>
        <p:spPr>
          <a:xfrm>
            <a:off x="457200" y="3227832"/>
            <a:ext cx="411480" cy="411480"/>
          </a:xfrm>
          <a:prstGeom prst="ellipse">
            <a:avLst/>
          </a:prstGeom>
          <a:solidFill>
            <a:schemeClr val="accent3"/>
          </a:solidFill>
          <a:ln/>
        </p:spPr>
      </p:sp>
      <p:sp>
        <p:nvSpPr>
          <p:cNvPr id="17" name="Text 15"/>
          <p:cNvSpPr txBox="1"/>
          <p:nvPr/>
        </p:nvSpPr>
        <p:spPr>
          <a:xfrm>
            <a:off x="457200" y="3227832"/>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8" name="Text 16"/>
          <p:cNvSpPr txBox="1"/>
          <p:nvPr/>
        </p:nvSpPr>
        <p:spPr>
          <a:xfrm>
            <a:off x="1097280" y="3227832"/>
            <a:ext cx="7589520" cy="411480"/>
          </a:xfrm>
          <a:prstGeom prst="rect">
            <a:avLst/>
          </a:prstGeom>
          <a:noFill/>
          <a:ln/>
        </p:spPr>
        <p:txBody>
          <a:bodyPr wrap="square" lIns="0" tIns="0" rIns="0" bIns="0" rtlCol="0" anchor="ctr"/>
          <a:lstStyle/>
          <a:p>
            <a:pPr marL="0" indent="0">
              <a:buNone/>
            </a:pPr>
            <a:r>
              <a:rPr lang="en-US" sz="1400" b="1" dirty="0">
                <a:solidFill>
                  <a:schemeClr val="accent3"/>
                </a:solidFill>
              </a:rPr>
              <a:t>Safety</a:t>
            </a:r>
            <a:r>
              <a:rPr lang="en-US" sz="1400" dirty="0">
                <a:solidFill>
                  <a:schemeClr val="tx1"/>
                </a:solidFill>
              </a:rPr>
              <a:t>  red-flag terms raise an urgent alert and pause routine tips</a:t>
            </a:r>
            <a:endParaRPr lang="en-US" sz="1400" dirty="0"/>
          </a:p>
        </p:txBody>
      </p:sp>
      <p:sp>
        <p:nvSpPr>
          <p:cNvPr id="19" name="Stage badge 6"/>
          <p:cNvSpPr/>
          <p:nvPr/>
        </p:nvSpPr>
        <p:spPr>
          <a:xfrm>
            <a:off x="457200" y="3703320"/>
            <a:ext cx="411480" cy="411480"/>
          </a:xfrm>
          <a:prstGeom prst="ellipse">
            <a:avLst/>
          </a:prstGeom>
          <a:solidFill>
            <a:schemeClr val="accent1"/>
          </a:solidFill>
          <a:ln/>
        </p:spPr>
      </p:sp>
      <p:sp>
        <p:nvSpPr>
          <p:cNvPr id="20" name="Text 18"/>
          <p:cNvSpPr txBox="1"/>
          <p:nvPr/>
        </p:nvSpPr>
        <p:spPr>
          <a:xfrm>
            <a:off x="457200" y="37033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1" name="Text 19"/>
          <p:cNvSpPr txBox="1"/>
          <p:nvPr/>
        </p:nvSpPr>
        <p:spPr>
          <a:xfrm>
            <a:off x="1097280" y="3703320"/>
            <a:ext cx="7589520" cy="411480"/>
          </a:xfrm>
          <a:prstGeom prst="rect">
            <a:avLst/>
          </a:prstGeom>
          <a:noFill/>
          <a:ln/>
        </p:spPr>
        <p:txBody>
          <a:bodyPr wrap="square" lIns="0" tIns="0" rIns="0" bIns="0" rtlCol="0" anchor="ctr"/>
          <a:lstStyle/>
          <a:p>
            <a:pPr marL="0" indent="0">
              <a:buNone/>
            </a:pPr>
            <a:r>
              <a:rPr lang="en-US" sz="1400" b="1" dirty="0">
                <a:solidFill>
                  <a:schemeClr val="tx2"/>
                </a:solidFill>
              </a:rPr>
              <a:t>Guidance</a:t>
            </a:r>
            <a:r>
              <a:rPr lang="en-US" sz="1400" dirty="0">
                <a:solidFill>
                  <a:schemeClr val="tx1"/>
                </a:solidFill>
              </a:rPr>
              <a:t>  diet, exercise and precaution tips plus doctor-visit questions</a:t>
            </a:r>
            <a:endParaRPr lang="en-US" sz="1400" dirty="0"/>
          </a:p>
        </p:txBody>
      </p:sp>
      <p:sp>
        <p:nvSpPr>
          <p:cNvPr id="22" name="Stage badge 7"/>
          <p:cNvSpPr/>
          <p:nvPr/>
        </p:nvSpPr>
        <p:spPr>
          <a:xfrm>
            <a:off x="457200" y="4178808"/>
            <a:ext cx="411480" cy="411480"/>
          </a:xfrm>
          <a:prstGeom prst="ellipse">
            <a:avLst/>
          </a:prstGeom>
          <a:solidFill>
            <a:schemeClr val="accent1"/>
          </a:solidFill>
          <a:ln/>
        </p:spPr>
      </p:sp>
      <p:sp>
        <p:nvSpPr>
          <p:cNvPr id="23" name="Text 21"/>
          <p:cNvSpPr txBox="1"/>
          <p:nvPr/>
        </p:nvSpPr>
        <p:spPr>
          <a:xfrm>
            <a:off x="457200" y="4178808"/>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24" name="Text 22"/>
          <p:cNvSpPr txBox="1"/>
          <p:nvPr/>
        </p:nvSpPr>
        <p:spPr>
          <a:xfrm>
            <a:off x="1097280" y="4178808"/>
            <a:ext cx="7589520" cy="411480"/>
          </a:xfrm>
          <a:prstGeom prst="rect">
            <a:avLst/>
          </a:prstGeom>
          <a:noFill/>
          <a:ln/>
        </p:spPr>
        <p:txBody>
          <a:bodyPr wrap="square" lIns="0" tIns="0" rIns="0" bIns="0" rtlCol="0" anchor="ctr"/>
          <a:lstStyle/>
          <a:p>
            <a:pPr marL="0" indent="0">
              <a:buNone/>
            </a:pPr>
            <a:r>
              <a:rPr lang="en-US" sz="1400" b="1" dirty="0">
                <a:solidFill>
                  <a:schemeClr val="tx2"/>
                </a:solidFill>
              </a:rPr>
              <a:t>Longitudinal</a:t>
            </a:r>
            <a:r>
              <a:rPr lang="en-US" sz="1400" dirty="0">
                <a:solidFill>
                  <a:schemeClr val="tx1"/>
                </a:solidFill>
              </a:rPr>
              <a:t>  numeric results update the patient’s time-series curves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Dataset: 6,168 Real Reports</a:t>
            </a:r>
            <a:endParaRPr lang="en-US" sz="3400" dirty="0"/>
          </a:p>
        </p:txBody>
      </p:sp>
      <p:sp>
        <p:nvSpPr>
          <p:cNvPr id="3" name="Dataset stat card 1"/>
          <p:cNvSpPr/>
          <p:nvPr/>
        </p:nvSpPr>
        <p:spPr>
          <a:xfrm>
            <a:off x="457200" y="1280160"/>
            <a:ext cx="4023360" cy="1005840"/>
          </a:xfrm>
          <a:prstGeom prst="roundRect">
            <a:avLst>
              <a:gd name="adj" fmla="val 9091"/>
            </a:avLst>
          </a:prstGeom>
          <a:solidFill>
            <a:schemeClr val="bg2"/>
          </a:solidFill>
          <a:ln/>
        </p:spPr>
      </p:sp>
      <p:sp>
        <p:nvSpPr>
          <p:cNvPr id="4" name="Text 2"/>
          <p:cNvSpPr txBox="1"/>
          <p:nvPr/>
        </p:nvSpPr>
        <p:spPr>
          <a:xfrm>
            <a:off x="640080" y="1280160"/>
            <a:ext cx="1554480" cy="1005840"/>
          </a:xfrm>
          <a:prstGeom prst="rect">
            <a:avLst/>
          </a:prstGeom>
          <a:noFill/>
          <a:ln/>
        </p:spPr>
        <p:txBody>
          <a:bodyPr wrap="square" lIns="0" tIns="0" rIns="0" bIns="0" rtlCol="0" anchor="ctr"/>
          <a:lstStyle/>
          <a:p>
            <a:pPr marL="0" indent="0">
              <a:buNone/>
            </a:pPr>
            <a:r>
              <a:rPr lang="en-US" sz="3600" b="1" dirty="0">
                <a:solidFill>
                  <a:schemeClr val="accent1"/>
                </a:solidFill>
                <a:latin typeface="Cambria" pitchFamily="34" charset="0"/>
                <a:ea typeface="Cambria" pitchFamily="34" charset="-122"/>
                <a:cs typeface="Cambria" pitchFamily="34" charset="-120"/>
              </a:rPr>
              <a:t>6,168</a:t>
            </a:r>
            <a:endParaRPr lang="en-US" sz="3600" dirty="0"/>
          </a:p>
        </p:txBody>
      </p:sp>
      <p:sp>
        <p:nvSpPr>
          <p:cNvPr id="5" name="Text 3"/>
          <p:cNvSpPr txBox="1"/>
          <p:nvPr/>
        </p:nvSpPr>
        <p:spPr>
          <a:xfrm>
            <a:off x="2194560" y="1280160"/>
            <a:ext cx="2148840" cy="1005840"/>
          </a:xfrm>
          <a:prstGeom prst="rect">
            <a:avLst/>
          </a:prstGeom>
          <a:noFill/>
          <a:ln/>
        </p:spPr>
        <p:txBody>
          <a:bodyPr wrap="square" lIns="0" tIns="0" rIns="0" bIns="0" rtlCol="0" anchor="ctr"/>
          <a:lstStyle/>
          <a:p>
            <a:pPr marL="0" indent="0">
              <a:buNone/>
            </a:pPr>
            <a:r>
              <a:rPr lang="en-US" sz="1400" dirty="0">
                <a:solidFill>
                  <a:schemeClr val="tx1"/>
                </a:solidFill>
              </a:rPr>
              <a:t>Cleaned, deduplicated reports in the combined corpus</a:t>
            </a:r>
            <a:endParaRPr lang="en-US" sz="1400" dirty="0"/>
          </a:p>
        </p:txBody>
      </p:sp>
      <p:sp>
        <p:nvSpPr>
          <p:cNvPr id="6" name="Dataset stat card 2"/>
          <p:cNvSpPr/>
          <p:nvPr/>
        </p:nvSpPr>
        <p:spPr>
          <a:xfrm>
            <a:off x="457200" y="2450592"/>
            <a:ext cx="4023360" cy="1005840"/>
          </a:xfrm>
          <a:prstGeom prst="roundRect">
            <a:avLst>
              <a:gd name="adj" fmla="val 9091"/>
            </a:avLst>
          </a:prstGeom>
          <a:solidFill>
            <a:schemeClr val="bg2"/>
          </a:solidFill>
          <a:ln/>
        </p:spPr>
      </p:sp>
      <p:sp>
        <p:nvSpPr>
          <p:cNvPr id="7" name="Text 5"/>
          <p:cNvSpPr txBox="1"/>
          <p:nvPr/>
        </p:nvSpPr>
        <p:spPr>
          <a:xfrm>
            <a:off x="640080" y="2450592"/>
            <a:ext cx="1554480" cy="1005840"/>
          </a:xfrm>
          <a:prstGeom prst="rect">
            <a:avLst/>
          </a:prstGeom>
          <a:noFill/>
          <a:ln/>
        </p:spPr>
        <p:txBody>
          <a:bodyPr wrap="square" lIns="0" tIns="0" rIns="0" bIns="0" rtlCol="0" anchor="ctr"/>
          <a:lstStyle/>
          <a:p>
            <a:pPr marL="0" indent="0">
              <a:buNone/>
            </a:pPr>
            <a:r>
              <a:rPr lang="en-US" sz="3600" b="1" dirty="0">
                <a:solidFill>
                  <a:schemeClr val="accent1"/>
                </a:solidFill>
                <a:latin typeface="Cambria" pitchFamily="34" charset="0"/>
                <a:ea typeface="Cambria" pitchFamily="34" charset="-122"/>
                <a:cs typeface="Cambria" pitchFamily="34" charset="-120"/>
              </a:rPr>
              <a:t>2,336</a:t>
            </a:r>
            <a:endParaRPr lang="en-US" sz="3600" dirty="0"/>
          </a:p>
        </p:txBody>
      </p:sp>
      <p:sp>
        <p:nvSpPr>
          <p:cNvPr id="8" name="Text 6"/>
          <p:cNvSpPr txBox="1"/>
          <p:nvPr/>
        </p:nvSpPr>
        <p:spPr>
          <a:xfrm>
            <a:off x="2194560" y="2450592"/>
            <a:ext cx="2148840" cy="1005840"/>
          </a:xfrm>
          <a:prstGeom prst="rect">
            <a:avLst/>
          </a:prstGeom>
          <a:noFill/>
          <a:ln/>
        </p:spPr>
        <p:txBody>
          <a:bodyPr wrap="square" lIns="0" tIns="0" rIns="0" bIns="0" rtlCol="0" anchor="ctr"/>
          <a:lstStyle/>
          <a:p>
            <a:pPr marL="0" indent="0">
              <a:buNone/>
            </a:pPr>
            <a:r>
              <a:rPr lang="en-US" sz="1400" dirty="0">
                <a:solidFill>
                  <a:schemeClr val="tx1"/>
                </a:solidFill>
              </a:rPr>
              <a:t>MTSamples transcripts spanning 40 specialties</a:t>
            </a:r>
            <a:endParaRPr lang="en-US" sz="1400" dirty="0"/>
          </a:p>
        </p:txBody>
      </p:sp>
      <p:sp>
        <p:nvSpPr>
          <p:cNvPr id="9" name="Dataset stat card 3"/>
          <p:cNvSpPr/>
          <p:nvPr/>
        </p:nvSpPr>
        <p:spPr>
          <a:xfrm>
            <a:off x="457200" y="3621024"/>
            <a:ext cx="4023360" cy="1005840"/>
          </a:xfrm>
          <a:prstGeom prst="roundRect">
            <a:avLst>
              <a:gd name="adj" fmla="val 9091"/>
            </a:avLst>
          </a:prstGeom>
          <a:solidFill>
            <a:schemeClr val="bg2"/>
          </a:solidFill>
          <a:ln/>
        </p:spPr>
      </p:sp>
      <p:sp>
        <p:nvSpPr>
          <p:cNvPr id="10" name="Text 8"/>
          <p:cNvSpPr txBox="1"/>
          <p:nvPr/>
        </p:nvSpPr>
        <p:spPr>
          <a:xfrm>
            <a:off x="640080" y="3621024"/>
            <a:ext cx="1554480" cy="1005840"/>
          </a:xfrm>
          <a:prstGeom prst="rect">
            <a:avLst/>
          </a:prstGeom>
          <a:noFill/>
          <a:ln/>
        </p:spPr>
        <p:txBody>
          <a:bodyPr wrap="square" lIns="0" tIns="0" rIns="0" bIns="0" rtlCol="0" anchor="ctr"/>
          <a:lstStyle/>
          <a:p>
            <a:pPr marL="0" indent="0">
              <a:buNone/>
            </a:pPr>
            <a:r>
              <a:rPr lang="en-US" sz="3600" b="1" dirty="0">
                <a:solidFill>
                  <a:schemeClr val="accent1"/>
                </a:solidFill>
                <a:latin typeface="Cambria" pitchFamily="34" charset="0"/>
                <a:ea typeface="Cambria" pitchFamily="34" charset="-122"/>
                <a:cs typeface="Cambria" pitchFamily="34" charset="-120"/>
              </a:rPr>
              <a:t>3,835</a:t>
            </a:r>
            <a:endParaRPr lang="en-US" sz="3600" dirty="0"/>
          </a:p>
        </p:txBody>
      </p:sp>
      <p:sp>
        <p:nvSpPr>
          <p:cNvPr id="11" name="Text 9"/>
          <p:cNvSpPr txBox="1"/>
          <p:nvPr/>
        </p:nvSpPr>
        <p:spPr>
          <a:xfrm>
            <a:off x="2194560" y="3621024"/>
            <a:ext cx="2148840" cy="1005840"/>
          </a:xfrm>
          <a:prstGeom prst="rect">
            <a:avLst/>
          </a:prstGeom>
          <a:noFill/>
          <a:ln/>
        </p:spPr>
        <p:txBody>
          <a:bodyPr wrap="square" lIns="0" tIns="0" rIns="0" bIns="0" rtlCol="0" anchor="ctr"/>
          <a:lstStyle/>
          <a:p>
            <a:pPr marL="0" indent="0">
              <a:buNone/>
            </a:pPr>
            <a:r>
              <a:rPr lang="en-US" sz="1400" dirty="0">
                <a:solidFill>
                  <a:schemeClr val="tx1"/>
                </a:solidFill>
              </a:rPr>
              <a:t>Indiana University chest X-ray reports (NLM/NIH)</a:t>
            </a:r>
            <a:endParaRPr lang="en-US" sz="1400" dirty="0"/>
          </a:p>
        </p:txBody>
      </p:sp>
      <p:graphicFrame>
        <p:nvGraphicFramePr>
          <p:cNvPr id="12" name="Chart 0"/>
          <p:cNvGraphicFramePr/>
          <p:nvPr/>
        </p:nvGraphicFramePr>
        <p:xfrm>
          <a:off x="4754880" y="1280160"/>
          <a:ext cx="39319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a:solidFill>
                  <a:schemeClr val="tx2"/>
                </a:solidFill>
              </a:rPr>
              <a:t>Clinical Entity Taxonomy</a:t>
            </a:r>
            <a:endParaRPr lang="en-US" sz="3400" dirty="0"/>
          </a:p>
        </p:txBody>
      </p:sp>
      <p:sp>
        <p:nvSpPr>
          <p:cNvPr id="3" name="Entity chip DISEASE"/>
          <p:cNvSpPr/>
          <p:nvPr/>
        </p:nvSpPr>
        <p:spPr>
          <a:xfrm>
            <a:off x="457200" y="1280160"/>
            <a:ext cx="2468880" cy="731520"/>
          </a:xfrm>
          <a:prstGeom prst="roundRect">
            <a:avLst>
              <a:gd name="adj" fmla="val 12500"/>
            </a:avLst>
          </a:prstGeom>
          <a:solidFill>
            <a:schemeClr val="bg2"/>
          </a:solidFill>
          <a:ln/>
        </p:spPr>
      </p:sp>
      <p:sp>
        <p:nvSpPr>
          <p:cNvPr id="4" name="Text 2"/>
          <p:cNvSpPr txBox="1"/>
          <p:nvPr/>
        </p:nvSpPr>
        <p:spPr>
          <a:xfrm>
            <a:off x="594360" y="1371600"/>
            <a:ext cx="2240280" cy="274320"/>
          </a:xfrm>
          <a:prstGeom prst="rect">
            <a:avLst/>
          </a:prstGeom>
          <a:noFill/>
          <a:ln/>
        </p:spPr>
        <p:txBody>
          <a:bodyPr wrap="square" lIns="0" tIns="0" rIns="0" bIns="0" rtlCol="0" anchor="t"/>
          <a:lstStyle/>
          <a:p>
            <a:pPr marL="0" indent="0">
              <a:buNone/>
            </a:pPr>
            <a:r>
              <a:rPr lang="en-US" sz="1400" b="1" dirty="0">
                <a:solidFill>
                  <a:schemeClr val="tx2"/>
                </a:solidFill>
              </a:rPr>
              <a:t>DISEASE</a:t>
            </a:r>
            <a:endParaRPr lang="en-US" sz="1400" dirty="0"/>
          </a:p>
        </p:txBody>
      </p:sp>
      <p:sp>
        <p:nvSpPr>
          <p:cNvPr id="5" name="Text 3"/>
          <p:cNvSpPr txBox="1"/>
          <p:nvPr/>
        </p:nvSpPr>
        <p:spPr>
          <a:xfrm>
            <a:off x="594360" y="1673352"/>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Anemia, Pneumonia</a:t>
            </a:r>
            <a:endParaRPr lang="en-US" sz="1200" dirty="0"/>
          </a:p>
        </p:txBody>
      </p:sp>
      <p:sp>
        <p:nvSpPr>
          <p:cNvPr id="6" name="Entity chip SYMPTOM"/>
          <p:cNvSpPr/>
          <p:nvPr/>
        </p:nvSpPr>
        <p:spPr>
          <a:xfrm>
            <a:off x="3063240" y="1280160"/>
            <a:ext cx="2468880" cy="731520"/>
          </a:xfrm>
          <a:prstGeom prst="roundRect">
            <a:avLst>
              <a:gd name="adj" fmla="val 12500"/>
            </a:avLst>
          </a:prstGeom>
          <a:solidFill>
            <a:schemeClr val="bg2"/>
          </a:solidFill>
          <a:ln/>
        </p:spPr>
      </p:sp>
      <p:sp>
        <p:nvSpPr>
          <p:cNvPr id="7" name="Text 5"/>
          <p:cNvSpPr txBox="1"/>
          <p:nvPr/>
        </p:nvSpPr>
        <p:spPr>
          <a:xfrm>
            <a:off x="3200400" y="1371600"/>
            <a:ext cx="2240280" cy="274320"/>
          </a:xfrm>
          <a:prstGeom prst="rect">
            <a:avLst/>
          </a:prstGeom>
          <a:noFill/>
          <a:ln/>
        </p:spPr>
        <p:txBody>
          <a:bodyPr wrap="square" lIns="0" tIns="0" rIns="0" bIns="0" rtlCol="0" anchor="t"/>
          <a:lstStyle/>
          <a:p>
            <a:pPr marL="0" indent="0">
              <a:buNone/>
            </a:pPr>
            <a:r>
              <a:rPr lang="en-US" sz="1400" b="1" dirty="0">
                <a:solidFill>
                  <a:schemeClr val="tx2"/>
                </a:solidFill>
              </a:rPr>
              <a:t>SYMPTOM</a:t>
            </a:r>
            <a:endParaRPr lang="en-US" sz="1400" dirty="0"/>
          </a:p>
        </p:txBody>
      </p:sp>
      <p:sp>
        <p:nvSpPr>
          <p:cNvPr id="8" name="Text 6"/>
          <p:cNvSpPr txBox="1"/>
          <p:nvPr/>
        </p:nvSpPr>
        <p:spPr>
          <a:xfrm>
            <a:off x="3200400" y="1673352"/>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Fever, knee pain</a:t>
            </a:r>
            <a:endParaRPr lang="en-US" sz="1200" dirty="0"/>
          </a:p>
        </p:txBody>
      </p:sp>
      <p:sp>
        <p:nvSpPr>
          <p:cNvPr id="9" name="Entity chip MEDICATION"/>
          <p:cNvSpPr/>
          <p:nvPr/>
        </p:nvSpPr>
        <p:spPr>
          <a:xfrm>
            <a:off x="457200" y="2121408"/>
            <a:ext cx="2468880" cy="731520"/>
          </a:xfrm>
          <a:prstGeom prst="roundRect">
            <a:avLst>
              <a:gd name="adj" fmla="val 12500"/>
            </a:avLst>
          </a:prstGeom>
          <a:solidFill>
            <a:schemeClr val="bg2"/>
          </a:solidFill>
          <a:ln/>
        </p:spPr>
      </p:sp>
      <p:sp>
        <p:nvSpPr>
          <p:cNvPr id="10" name="Text 8"/>
          <p:cNvSpPr txBox="1"/>
          <p:nvPr/>
        </p:nvSpPr>
        <p:spPr>
          <a:xfrm>
            <a:off x="594360" y="2212848"/>
            <a:ext cx="2240280" cy="274320"/>
          </a:xfrm>
          <a:prstGeom prst="rect">
            <a:avLst/>
          </a:prstGeom>
          <a:noFill/>
          <a:ln/>
        </p:spPr>
        <p:txBody>
          <a:bodyPr wrap="square" lIns="0" tIns="0" rIns="0" bIns="0" rtlCol="0" anchor="t"/>
          <a:lstStyle/>
          <a:p>
            <a:pPr marL="0" indent="0">
              <a:buNone/>
            </a:pPr>
            <a:r>
              <a:rPr lang="en-US" sz="1400" b="1" dirty="0">
                <a:solidFill>
                  <a:schemeClr val="tx2"/>
                </a:solidFill>
              </a:rPr>
              <a:t>MEDICATION</a:t>
            </a:r>
            <a:endParaRPr lang="en-US" sz="1400" dirty="0"/>
          </a:p>
        </p:txBody>
      </p:sp>
      <p:sp>
        <p:nvSpPr>
          <p:cNvPr id="11" name="Text 9"/>
          <p:cNvSpPr txBox="1"/>
          <p:nvPr/>
        </p:nvSpPr>
        <p:spPr>
          <a:xfrm>
            <a:off x="594360" y="2514600"/>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Ibuprofen, Metformin</a:t>
            </a:r>
            <a:endParaRPr lang="en-US" sz="1200" dirty="0"/>
          </a:p>
        </p:txBody>
      </p:sp>
      <p:sp>
        <p:nvSpPr>
          <p:cNvPr id="12" name="Entity chip ANATOMY"/>
          <p:cNvSpPr/>
          <p:nvPr/>
        </p:nvSpPr>
        <p:spPr>
          <a:xfrm>
            <a:off x="3063240" y="2121408"/>
            <a:ext cx="2468880" cy="731520"/>
          </a:xfrm>
          <a:prstGeom prst="roundRect">
            <a:avLst>
              <a:gd name="adj" fmla="val 12500"/>
            </a:avLst>
          </a:prstGeom>
          <a:solidFill>
            <a:schemeClr val="bg2"/>
          </a:solidFill>
          <a:ln/>
        </p:spPr>
      </p:sp>
      <p:sp>
        <p:nvSpPr>
          <p:cNvPr id="13" name="Text 11"/>
          <p:cNvSpPr txBox="1"/>
          <p:nvPr/>
        </p:nvSpPr>
        <p:spPr>
          <a:xfrm>
            <a:off x="3200400" y="2212848"/>
            <a:ext cx="2240280" cy="274320"/>
          </a:xfrm>
          <a:prstGeom prst="rect">
            <a:avLst/>
          </a:prstGeom>
          <a:noFill/>
          <a:ln/>
        </p:spPr>
        <p:txBody>
          <a:bodyPr wrap="square" lIns="0" tIns="0" rIns="0" bIns="0" rtlCol="0" anchor="t"/>
          <a:lstStyle/>
          <a:p>
            <a:pPr marL="0" indent="0">
              <a:buNone/>
            </a:pPr>
            <a:r>
              <a:rPr lang="en-US" sz="1400" b="1" dirty="0">
                <a:solidFill>
                  <a:schemeClr val="tx2"/>
                </a:solidFill>
              </a:rPr>
              <a:t>ANATOMY</a:t>
            </a:r>
            <a:endParaRPr lang="en-US" sz="1400" dirty="0"/>
          </a:p>
        </p:txBody>
      </p:sp>
      <p:sp>
        <p:nvSpPr>
          <p:cNvPr id="14" name="Text 12"/>
          <p:cNvSpPr txBox="1"/>
          <p:nvPr/>
        </p:nvSpPr>
        <p:spPr>
          <a:xfrm>
            <a:off x="3200400" y="2514600"/>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Left knee, Lungs</a:t>
            </a:r>
            <a:endParaRPr lang="en-US" sz="1200" dirty="0"/>
          </a:p>
        </p:txBody>
      </p:sp>
      <p:sp>
        <p:nvSpPr>
          <p:cNvPr id="15" name="Entity chip TEST"/>
          <p:cNvSpPr/>
          <p:nvPr/>
        </p:nvSpPr>
        <p:spPr>
          <a:xfrm>
            <a:off x="457200" y="2962656"/>
            <a:ext cx="2468880" cy="731520"/>
          </a:xfrm>
          <a:prstGeom prst="roundRect">
            <a:avLst>
              <a:gd name="adj" fmla="val 12500"/>
            </a:avLst>
          </a:prstGeom>
          <a:solidFill>
            <a:schemeClr val="bg2"/>
          </a:solidFill>
          <a:ln/>
        </p:spPr>
      </p:sp>
      <p:sp>
        <p:nvSpPr>
          <p:cNvPr id="16" name="Text 14"/>
          <p:cNvSpPr txBox="1"/>
          <p:nvPr/>
        </p:nvSpPr>
        <p:spPr>
          <a:xfrm>
            <a:off x="594360" y="3054096"/>
            <a:ext cx="2240280" cy="274320"/>
          </a:xfrm>
          <a:prstGeom prst="rect">
            <a:avLst/>
          </a:prstGeom>
          <a:noFill/>
          <a:ln/>
        </p:spPr>
        <p:txBody>
          <a:bodyPr wrap="square" lIns="0" tIns="0" rIns="0" bIns="0" rtlCol="0" anchor="t"/>
          <a:lstStyle/>
          <a:p>
            <a:pPr marL="0" indent="0">
              <a:buNone/>
            </a:pPr>
            <a:r>
              <a:rPr lang="en-US" sz="1400" b="1" dirty="0">
                <a:solidFill>
                  <a:schemeClr val="tx2"/>
                </a:solidFill>
              </a:rPr>
              <a:t>TEST</a:t>
            </a:r>
            <a:endParaRPr lang="en-US" sz="1400" dirty="0"/>
          </a:p>
        </p:txBody>
      </p:sp>
      <p:sp>
        <p:nvSpPr>
          <p:cNvPr id="17" name="Text 15"/>
          <p:cNvSpPr txBox="1"/>
          <p:nvPr/>
        </p:nvSpPr>
        <p:spPr>
          <a:xfrm>
            <a:off x="594360" y="3355848"/>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Chest X-Ray, MRI</a:t>
            </a:r>
            <a:endParaRPr lang="en-US" sz="1200" dirty="0"/>
          </a:p>
        </p:txBody>
      </p:sp>
      <p:sp>
        <p:nvSpPr>
          <p:cNvPr id="18" name="Entity chip PROCEDURE"/>
          <p:cNvSpPr/>
          <p:nvPr/>
        </p:nvSpPr>
        <p:spPr>
          <a:xfrm>
            <a:off x="3063240" y="2962656"/>
            <a:ext cx="2468880" cy="731520"/>
          </a:xfrm>
          <a:prstGeom prst="roundRect">
            <a:avLst>
              <a:gd name="adj" fmla="val 12500"/>
            </a:avLst>
          </a:prstGeom>
          <a:solidFill>
            <a:schemeClr val="bg2"/>
          </a:solidFill>
          <a:ln/>
        </p:spPr>
      </p:sp>
      <p:sp>
        <p:nvSpPr>
          <p:cNvPr id="19" name="Text 17"/>
          <p:cNvSpPr txBox="1"/>
          <p:nvPr/>
        </p:nvSpPr>
        <p:spPr>
          <a:xfrm>
            <a:off x="3200400" y="3054096"/>
            <a:ext cx="2240280" cy="274320"/>
          </a:xfrm>
          <a:prstGeom prst="rect">
            <a:avLst/>
          </a:prstGeom>
          <a:noFill/>
          <a:ln/>
        </p:spPr>
        <p:txBody>
          <a:bodyPr wrap="square" lIns="0" tIns="0" rIns="0" bIns="0" rtlCol="0" anchor="t"/>
          <a:lstStyle/>
          <a:p>
            <a:pPr marL="0" indent="0">
              <a:buNone/>
            </a:pPr>
            <a:r>
              <a:rPr lang="en-US" sz="1400" b="1" dirty="0">
                <a:solidFill>
                  <a:schemeClr val="tx2"/>
                </a:solidFill>
              </a:rPr>
              <a:t>PROCEDURE</a:t>
            </a:r>
            <a:endParaRPr lang="en-US" sz="1400" dirty="0"/>
          </a:p>
        </p:txBody>
      </p:sp>
      <p:sp>
        <p:nvSpPr>
          <p:cNvPr id="20" name="Text 18"/>
          <p:cNvSpPr txBox="1"/>
          <p:nvPr/>
        </p:nvSpPr>
        <p:spPr>
          <a:xfrm>
            <a:off x="3200400" y="3355848"/>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Arthroscopy, Biopsy</a:t>
            </a:r>
            <a:endParaRPr lang="en-US" sz="1200" dirty="0"/>
          </a:p>
        </p:txBody>
      </p:sp>
      <p:sp>
        <p:nvSpPr>
          <p:cNvPr id="21" name="Entity chip PATHOGEN"/>
          <p:cNvSpPr/>
          <p:nvPr/>
        </p:nvSpPr>
        <p:spPr>
          <a:xfrm>
            <a:off x="457200" y="3803904"/>
            <a:ext cx="2468880" cy="731520"/>
          </a:xfrm>
          <a:prstGeom prst="roundRect">
            <a:avLst>
              <a:gd name="adj" fmla="val 12500"/>
            </a:avLst>
          </a:prstGeom>
          <a:solidFill>
            <a:schemeClr val="bg2"/>
          </a:solidFill>
          <a:ln/>
        </p:spPr>
      </p:sp>
      <p:sp>
        <p:nvSpPr>
          <p:cNvPr id="22" name="Text 20"/>
          <p:cNvSpPr txBox="1"/>
          <p:nvPr/>
        </p:nvSpPr>
        <p:spPr>
          <a:xfrm>
            <a:off x="594360" y="3895344"/>
            <a:ext cx="2240280" cy="274320"/>
          </a:xfrm>
          <a:prstGeom prst="rect">
            <a:avLst/>
          </a:prstGeom>
          <a:noFill/>
          <a:ln/>
        </p:spPr>
        <p:txBody>
          <a:bodyPr wrap="square" lIns="0" tIns="0" rIns="0" bIns="0" rtlCol="0" anchor="t"/>
          <a:lstStyle/>
          <a:p>
            <a:pPr marL="0" indent="0">
              <a:buNone/>
            </a:pPr>
            <a:r>
              <a:rPr lang="en-US" sz="1400" b="1" dirty="0">
                <a:solidFill>
                  <a:schemeClr val="tx2"/>
                </a:solidFill>
              </a:rPr>
              <a:t>PATHOGEN</a:t>
            </a:r>
            <a:endParaRPr lang="en-US" sz="1400" dirty="0"/>
          </a:p>
        </p:txBody>
      </p:sp>
      <p:sp>
        <p:nvSpPr>
          <p:cNvPr id="23" name="Text 21"/>
          <p:cNvSpPr txBox="1"/>
          <p:nvPr/>
        </p:nvSpPr>
        <p:spPr>
          <a:xfrm>
            <a:off x="594360" y="4197096"/>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Streptococcus, Influenza</a:t>
            </a:r>
            <a:endParaRPr lang="en-US" sz="1200" dirty="0"/>
          </a:p>
        </p:txBody>
      </p:sp>
      <p:sp>
        <p:nvSpPr>
          <p:cNvPr id="24" name="Entity chip RADIOLOGICAL_FINDING"/>
          <p:cNvSpPr/>
          <p:nvPr/>
        </p:nvSpPr>
        <p:spPr>
          <a:xfrm>
            <a:off x="3063240" y="3803904"/>
            <a:ext cx="2468880" cy="731520"/>
          </a:xfrm>
          <a:prstGeom prst="roundRect">
            <a:avLst>
              <a:gd name="adj" fmla="val 12500"/>
            </a:avLst>
          </a:prstGeom>
          <a:solidFill>
            <a:schemeClr val="bg2"/>
          </a:solidFill>
          <a:ln/>
        </p:spPr>
      </p:sp>
      <p:sp>
        <p:nvSpPr>
          <p:cNvPr id="25" name="Text 23"/>
          <p:cNvSpPr txBox="1"/>
          <p:nvPr/>
        </p:nvSpPr>
        <p:spPr>
          <a:xfrm>
            <a:off x="3200400" y="3895344"/>
            <a:ext cx="2240280" cy="274320"/>
          </a:xfrm>
          <a:prstGeom prst="rect">
            <a:avLst/>
          </a:prstGeom>
          <a:noFill/>
          <a:ln/>
        </p:spPr>
        <p:txBody>
          <a:bodyPr wrap="square" lIns="0" tIns="0" rIns="0" bIns="0" rtlCol="0" anchor="t"/>
          <a:lstStyle/>
          <a:p>
            <a:pPr marL="0" indent="0">
              <a:buNone/>
            </a:pPr>
            <a:r>
              <a:rPr lang="en-US" sz="1400" b="1" dirty="0">
                <a:solidFill>
                  <a:schemeClr val="tx2"/>
                </a:solidFill>
              </a:rPr>
              <a:t>RADIOLOGICAL_FINDING</a:t>
            </a:r>
            <a:endParaRPr lang="en-US" sz="1400" dirty="0"/>
          </a:p>
        </p:txBody>
      </p:sp>
      <p:sp>
        <p:nvSpPr>
          <p:cNvPr id="26" name="Text 24"/>
          <p:cNvSpPr txBox="1"/>
          <p:nvPr/>
        </p:nvSpPr>
        <p:spPr>
          <a:xfrm>
            <a:off x="3200400" y="4197096"/>
            <a:ext cx="2240280" cy="256032"/>
          </a:xfrm>
          <a:prstGeom prst="rect">
            <a:avLst/>
          </a:prstGeom>
          <a:noFill/>
          <a:ln/>
        </p:spPr>
        <p:txBody>
          <a:bodyPr wrap="square" lIns="0" tIns="0" rIns="0" bIns="0" rtlCol="0" anchor="t"/>
          <a:lstStyle/>
          <a:p>
            <a:pPr marL="0" indent="0">
              <a:buNone/>
            </a:pPr>
            <a:r>
              <a:rPr lang="en-US" sz="1200" i="1" dirty="0">
                <a:solidFill>
                  <a:schemeClr val="accent5"/>
                </a:solidFill>
              </a:rPr>
              <a:t>Pleural effusion</a:t>
            </a:r>
            <a:endParaRPr lang="en-US" sz="1200" dirty="0"/>
          </a:p>
        </p:txBody>
      </p:sp>
      <p:sp>
        <p:nvSpPr>
          <p:cNvPr id="27" name="Text 25"/>
          <p:cNvSpPr txBox="1"/>
          <p:nvPr/>
        </p:nvSpPr>
        <p:spPr>
          <a:xfrm>
            <a:off x="5852160" y="1280160"/>
            <a:ext cx="2834640" cy="320040"/>
          </a:xfrm>
          <a:prstGeom prst="rect">
            <a:avLst/>
          </a:prstGeom>
          <a:noFill/>
          <a:ln/>
        </p:spPr>
        <p:txBody>
          <a:bodyPr wrap="square" lIns="0" tIns="0" rIns="0" bIns="0" rtlCol="0" anchor="t"/>
          <a:lstStyle/>
          <a:p>
            <a:pPr marL="0" indent="0">
              <a:buNone/>
            </a:pPr>
            <a:r>
              <a:rPr lang="en-US" sz="1800" b="1" dirty="0">
                <a:solidFill>
                  <a:schemeClr val="tx2"/>
                </a:solidFill>
              </a:rPr>
              <a:t>Assertion states</a:t>
            </a:r>
            <a:endParaRPr lang="en-US" sz="1800" dirty="0"/>
          </a:p>
        </p:txBody>
      </p:sp>
      <p:sp>
        <p:nvSpPr>
          <p:cNvPr id="28" name="Assertion pill PRESENT"/>
          <p:cNvSpPr/>
          <p:nvPr/>
        </p:nvSpPr>
        <p:spPr>
          <a:xfrm>
            <a:off x="5852160" y="1691640"/>
            <a:ext cx="2834640" cy="365760"/>
          </a:xfrm>
          <a:prstGeom prst="roundRect">
            <a:avLst>
              <a:gd name="adj" fmla="val 50000"/>
            </a:avLst>
          </a:prstGeom>
          <a:solidFill>
            <a:schemeClr val="accent1"/>
          </a:solidFill>
          <a:ln/>
        </p:spPr>
      </p:sp>
      <p:sp>
        <p:nvSpPr>
          <p:cNvPr id="29" name="Text 27"/>
          <p:cNvSpPr txBox="1"/>
          <p:nvPr/>
        </p:nvSpPr>
        <p:spPr>
          <a:xfrm>
            <a:off x="5852160" y="1691640"/>
            <a:ext cx="2834640" cy="365760"/>
          </a:xfrm>
          <a:prstGeom prst="rect">
            <a:avLst/>
          </a:prstGeom>
          <a:noFill/>
          <a:ln/>
        </p:spPr>
        <p:txBody>
          <a:bodyPr wrap="square" lIns="0" tIns="0" rIns="0" bIns="0" rtlCol="0" anchor="ctr"/>
          <a:lstStyle/>
          <a:p>
            <a:pPr marL="0" indent="0" algn="ctr">
              <a:buNone/>
            </a:pPr>
            <a:r>
              <a:rPr lang="en-US" sz="1400" b="1" dirty="0">
                <a:solidFill>
                  <a:schemeClr val="bg1"/>
                </a:solidFill>
              </a:rPr>
              <a:t>PRESENT</a:t>
            </a:r>
            <a:endParaRPr lang="en-US" sz="1400" dirty="0"/>
          </a:p>
        </p:txBody>
      </p:sp>
      <p:sp>
        <p:nvSpPr>
          <p:cNvPr id="30" name="Assertion pill ABSENT"/>
          <p:cNvSpPr/>
          <p:nvPr/>
        </p:nvSpPr>
        <p:spPr>
          <a:xfrm>
            <a:off x="5852160" y="2148840"/>
            <a:ext cx="2834640" cy="365760"/>
          </a:xfrm>
          <a:prstGeom prst="roundRect">
            <a:avLst>
              <a:gd name="adj" fmla="val 50000"/>
            </a:avLst>
          </a:prstGeom>
          <a:solidFill>
            <a:schemeClr val="accent3"/>
          </a:solidFill>
          <a:ln/>
        </p:spPr>
      </p:sp>
      <p:sp>
        <p:nvSpPr>
          <p:cNvPr id="31" name="Text 29"/>
          <p:cNvSpPr txBox="1"/>
          <p:nvPr/>
        </p:nvSpPr>
        <p:spPr>
          <a:xfrm>
            <a:off x="5852160" y="2148840"/>
            <a:ext cx="2834640" cy="365760"/>
          </a:xfrm>
          <a:prstGeom prst="rect">
            <a:avLst/>
          </a:prstGeom>
          <a:noFill/>
          <a:ln/>
        </p:spPr>
        <p:txBody>
          <a:bodyPr wrap="square" lIns="0" tIns="0" rIns="0" bIns="0" rtlCol="0" anchor="ctr"/>
          <a:lstStyle/>
          <a:p>
            <a:pPr marL="0" indent="0" algn="ctr">
              <a:buNone/>
            </a:pPr>
            <a:r>
              <a:rPr lang="en-US" sz="1400" b="1" dirty="0">
                <a:solidFill>
                  <a:schemeClr val="bg1"/>
                </a:solidFill>
              </a:rPr>
              <a:t>ABSENT</a:t>
            </a:r>
            <a:endParaRPr lang="en-US" sz="1400" dirty="0"/>
          </a:p>
        </p:txBody>
      </p:sp>
      <p:sp>
        <p:nvSpPr>
          <p:cNvPr id="32" name="Assertion pill UNCERTAIN"/>
          <p:cNvSpPr/>
          <p:nvPr/>
        </p:nvSpPr>
        <p:spPr>
          <a:xfrm>
            <a:off x="5852160" y="2606040"/>
            <a:ext cx="2834640" cy="365760"/>
          </a:xfrm>
          <a:prstGeom prst="roundRect">
            <a:avLst>
              <a:gd name="adj" fmla="val 50000"/>
            </a:avLst>
          </a:prstGeom>
          <a:solidFill>
            <a:schemeClr val="accent4"/>
          </a:solidFill>
          <a:ln/>
        </p:spPr>
      </p:sp>
      <p:sp>
        <p:nvSpPr>
          <p:cNvPr id="33" name="Text 31"/>
          <p:cNvSpPr txBox="1"/>
          <p:nvPr/>
        </p:nvSpPr>
        <p:spPr>
          <a:xfrm>
            <a:off x="5852160" y="2606040"/>
            <a:ext cx="2834640" cy="365760"/>
          </a:xfrm>
          <a:prstGeom prst="rect">
            <a:avLst/>
          </a:prstGeom>
          <a:noFill/>
          <a:ln/>
        </p:spPr>
        <p:txBody>
          <a:bodyPr wrap="square" lIns="0" tIns="0" rIns="0" bIns="0" rtlCol="0" anchor="ctr"/>
          <a:lstStyle/>
          <a:p>
            <a:pPr marL="0" indent="0" algn="ctr">
              <a:buNone/>
            </a:pPr>
            <a:r>
              <a:rPr lang="en-US" sz="1400" b="1" dirty="0">
                <a:solidFill>
                  <a:schemeClr val="tx1"/>
                </a:solidFill>
              </a:rPr>
              <a:t>UNCERTAIN</a:t>
            </a:r>
            <a:endParaRPr lang="en-US" sz="1400" dirty="0"/>
          </a:p>
        </p:txBody>
      </p:sp>
      <p:sp>
        <p:nvSpPr>
          <p:cNvPr id="34" name="Assertion pill HISTORICAL"/>
          <p:cNvSpPr/>
          <p:nvPr/>
        </p:nvSpPr>
        <p:spPr>
          <a:xfrm>
            <a:off x="5852160" y="3063240"/>
            <a:ext cx="2834640" cy="365760"/>
          </a:xfrm>
          <a:prstGeom prst="roundRect">
            <a:avLst>
              <a:gd name="adj" fmla="val 50000"/>
            </a:avLst>
          </a:prstGeom>
          <a:solidFill>
            <a:schemeClr val="accent5"/>
          </a:solidFill>
          <a:ln/>
        </p:spPr>
      </p:sp>
      <p:sp>
        <p:nvSpPr>
          <p:cNvPr id="35" name="Text 33"/>
          <p:cNvSpPr txBox="1"/>
          <p:nvPr/>
        </p:nvSpPr>
        <p:spPr>
          <a:xfrm>
            <a:off x="5852160" y="3063240"/>
            <a:ext cx="2834640" cy="365760"/>
          </a:xfrm>
          <a:prstGeom prst="rect">
            <a:avLst/>
          </a:prstGeom>
          <a:noFill/>
          <a:ln/>
        </p:spPr>
        <p:txBody>
          <a:bodyPr wrap="square" lIns="0" tIns="0" rIns="0" bIns="0" rtlCol="0" anchor="ctr"/>
          <a:lstStyle/>
          <a:p>
            <a:pPr marL="0" indent="0" algn="ctr">
              <a:buNone/>
            </a:pPr>
            <a:r>
              <a:rPr lang="en-US" sz="1400" b="1" dirty="0">
                <a:solidFill>
                  <a:schemeClr val="bg1"/>
                </a:solidFill>
              </a:rPr>
              <a:t>HISTORICAL</a:t>
            </a:r>
            <a:endParaRPr lang="en-US" sz="1400" dirty="0"/>
          </a:p>
        </p:txBody>
      </p:sp>
      <p:sp>
        <p:nvSpPr>
          <p:cNvPr id="36" name="Assertion pill NOT_SPECIFIED"/>
          <p:cNvSpPr/>
          <p:nvPr/>
        </p:nvSpPr>
        <p:spPr>
          <a:xfrm>
            <a:off x="5852160" y="3520440"/>
            <a:ext cx="2834640" cy="365760"/>
          </a:xfrm>
          <a:prstGeom prst="roundRect">
            <a:avLst>
              <a:gd name="adj" fmla="val 50000"/>
            </a:avLst>
          </a:prstGeom>
          <a:solidFill>
            <a:schemeClr val="accent6"/>
          </a:solidFill>
          <a:ln/>
        </p:spPr>
      </p:sp>
      <p:sp>
        <p:nvSpPr>
          <p:cNvPr id="37" name="Text 35"/>
          <p:cNvSpPr txBox="1"/>
          <p:nvPr/>
        </p:nvSpPr>
        <p:spPr>
          <a:xfrm>
            <a:off x="5852160" y="3520440"/>
            <a:ext cx="2834640" cy="365760"/>
          </a:xfrm>
          <a:prstGeom prst="rect">
            <a:avLst/>
          </a:prstGeom>
          <a:noFill/>
          <a:ln/>
        </p:spPr>
        <p:txBody>
          <a:bodyPr wrap="square" lIns="0" tIns="0" rIns="0" bIns="0" rtlCol="0" anchor="ctr"/>
          <a:lstStyle/>
          <a:p>
            <a:pPr marL="0" indent="0" algn="ctr">
              <a:buNone/>
            </a:pPr>
            <a:r>
              <a:rPr lang="en-US" sz="1400" b="1" dirty="0">
                <a:solidFill>
                  <a:schemeClr val="tx1"/>
                </a:solidFill>
              </a:rPr>
              <a:t>NOT_SPECIFIED</a:t>
            </a:r>
            <a:endParaRPr lang="en-US" sz="1400" dirty="0"/>
          </a:p>
        </p:txBody>
      </p:sp>
      <p:sp>
        <p:nvSpPr>
          <p:cNvPr id="38" name="Negation example card"/>
          <p:cNvSpPr/>
          <p:nvPr/>
        </p:nvSpPr>
        <p:spPr>
          <a:xfrm>
            <a:off x="5852160" y="4069080"/>
            <a:ext cx="2834640" cy="594360"/>
          </a:xfrm>
          <a:prstGeom prst="roundRect">
            <a:avLst>
              <a:gd name="adj" fmla="val 15385"/>
            </a:avLst>
          </a:prstGeom>
          <a:solidFill>
            <a:schemeClr val="bg2"/>
          </a:solidFill>
          <a:ln/>
        </p:spPr>
      </p:sp>
      <p:sp>
        <p:nvSpPr>
          <p:cNvPr id="39" name="Text 37"/>
          <p:cNvSpPr txBox="1"/>
          <p:nvPr/>
        </p:nvSpPr>
        <p:spPr>
          <a:xfrm>
            <a:off x="5989320" y="4069080"/>
            <a:ext cx="2560320" cy="594360"/>
          </a:xfrm>
          <a:prstGeom prst="rect">
            <a:avLst/>
          </a:prstGeom>
          <a:noFill/>
          <a:ln/>
        </p:spPr>
        <p:txBody>
          <a:bodyPr wrap="square" lIns="0" tIns="0" rIns="0" bIns="0" rtlCol="0" anchor="ctr"/>
          <a:lstStyle/>
          <a:p>
            <a:pPr marL="0" indent="0">
              <a:buNone/>
            </a:pPr>
            <a:r>
              <a:rPr lang="en-US" sz="1400" b="1" dirty="0">
                <a:solidFill>
                  <a:schemeClr val="tx2"/>
                </a:solidFill>
              </a:rPr>
              <a:t>“No pneumothorax” is tagged ABSENT</a:t>
            </a:r>
            <a:endParaRPr lang="en-US" sz="1400" dirty="0"/>
          </a:p>
        </p:txBody>
      </p:sp>
      <p:sp>
        <p:nvSpPr>
          <p:cNvPr id="4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F6F7D"/>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A21B6-6DCD-D003-236F-A9EDBAA4AD42}"/>
              </a:ext>
            </a:extLst>
          </p:cNvPr>
          <p:cNvSpPr txBox="1"/>
          <p:nvPr/>
        </p:nvSpPr>
        <p:spPr>
          <a:xfrm>
            <a:off x="535781" y="384691"/>
            <a:ext cx="2482154" cy="369332"/>
          </a:xfrm>
          <a:prstGeom prst="rect">
            <a:avLst/>
          </a:prstGeom>
          <a:noFill/>
        </p:spPr>
        <p:txBody>
          <a:bodyPr wrap="none" rtlCol="0">
            <a:spAutoFit/>
          </a:bodyPr>
          <a:lstStyle/>
          <a:p>
            <a:r>
              <a:rPr lang="en-IN" dirty="0">
                <a:latin typeface="+mj-lt"/>
              </a:rPr>
              <a:t>RESULTS AND OUTPUT</a:t>
            </a:r>
          </a:p>
        </p:txBody>
      </p:sp>
      <p:pic>
        <p:nvPicPr>
          <p:cNvPr id="4" name="Picture 3">
            <a:extLst>
              <a:ext uri="{FF2B5EF4-FFF2-40B4-BE49-F238E27FC236}">
                <a16:creationId xmlns:a16="http://schemas.microsoft.com/office/drawing/2014/main" id="{B10DE676-FFA7-A841-263E-040131CCBF6B}"/>
              </a:ext>
            </a:extLst>
          </p:cNvPr>
          <p:cNvPicPr>
            <a:picLocks noChangeAspect="1"/>
          </p:cNvPicPr>
          <p:nvPr/>
        </p:nvPicPr>
        <p:blipFill>
          <a:blip r:embed="rId2"/>
          <a:stretch>
            <a:fillRect/>
          </a:stretch>
        </p:blipFill>
        <p:spPr>
          <a:xfrm>
            <a:off x="535781" y="853324"/>
            <a:ext cx="5216013" cy="36797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bg1"/>
                </a:solidFill>
              </a:rPr>
              <a:t>Future Scope &amp; Conclusion</a:t>
            </a:r>
            <a:endParaRPr lang="en-US" sz="3400" dirty="0"/>
          </a:p>
        </p:txBody>
      </p:sp>
      <p:sp>
        <p:nvSpPr>
          <p:cNvPr id="3" name="Future 1 circle"/>
          <p:cNvSpPr/>
          <p:nvPr/>
        </p:nvSpPr>
        <p:spPr>
          <a:xfrm>
            <a:off x="457200" y="1399032"/>
            <a:ext cx="640080" cy="640080"/>
          </a:xfrm>
          <a:prstGeom prst="ellipse">
            <a:avLst/>
          </a:prstGeom>
          <a:solidFill>
            <a:schemeClr val="accent2"/>
          </a:solidFill>
          <a:ln/>
        </p:spPr>
      </p:sp>
      <p:pic>
        <p:nvPicPr>
          <p:cNvPr id="4" name="Future 1 icon" descr="Future 1"/>
          <p:cNvPicPr>
            <a:picLocks noChangeAspect="1"/>
          </p:cNvPicPr>
          <p:nvPr/>
        </p:nvPicPr>
        <p:blipFill>
          <a:blip r:embed="rId3"/>
          <a:stretch>
            <a:fillRect/>
          </a:stretch>
        </p:blipFill>
        <p:spPr>
          <a:xfrm>
            <a:off x="630022" y="1571854"/>
            <a:ext cx="294437" cy="294437"/>
          </a:xfrm>
          <a:prstGeom prst="rect">
            <a:avLst/>
          </a:prstGeom>
        </p:spPr>
      </p:pic>
      <p:sp>
        <p:nvSpPr>
          <p:cNvPr id="5" name="Text 2"/>
          <p:cNvSpPr txBox="1"/>
          <p:nvPr/>
        </p:nvSpPr>
        <p:spPr>
          <a:xfrm>
            <a:off x="1280160" y="1325880"/>
            <a:ext cx="3840480" cy="320040"/>
          </a:xfrm>
          <a:prstGeom prst="rect">
            <a:avLst/>
          </a:prstGeom>
          <a:noFill/>
          <a:ln/>
        </p:spPr>
        <p:txBody>
          <a:bodyPr wrap="square" lIns="0" tIns="0" rIns="0" bIns="0" rtlCol="0" anchor="t"/>
          <a:lstStyle/>
          <a:p>
            <a:pPr marL="0" indent="0">
              <a:buNone/>
            </a:pPr>
            <a:r>
              <a:rPr lang="en-US" sz="1800" b="1" dirty="0">
                <a:solidFill>
                  <a:schemeClr val="bg1"/>
                </a:solidFill>
              </a:rPr>
              <a:t>Voice in regional languages</a:t>
            </a:r>
            <a:endParaRPr lang="en-US" sz="1800" dirty="0"/>
          </a:p>
        </p:txBody>
      </p:sp>
      <p:sp>
        <p:nvSpPr>
          <p:cNvPr id="6" name="Text 3"/>
          <p:cNvSpPr txBox="1"/>
          <p:nvPr/>
        </p:nvSpPr>
        <p:spPr>
          <a:xfrm>
            <a:off x="1280160" y="1673352"/>
            <a:ext cx="3840480" cy="594360"/>
          </a:xfrm>
          <a:prstGeom prst="rect">
            <a:avLst/>
          </a:prstGeom>
          <a:noFill/>
          <a:ln/>
        </p:spPr>
        <p:txBody>
          <a:bodyPr wrap="square" lIns="0" tIns="0" rIns="0" bIns="0" rtlCol="0" anchor="t"/>
          <a:lstStyle/>
          <a:p>
            <a:pPr marL="0" indent="0">
              <a:buNone/>
            </a:pPr>
            <a:r>
              <a:rPr lang="en-US" sz="1400" dirty="0">
                <a:solidFill>
                  <a:schemeClr val="bg2"/>
                </a:solidFill>
              </a:rPr>
              <a:t>Read summaries aloud in Malayalam, Hindi, Tamil, Telugu and Kannada</a:t>
            </a:r>
            <a:endParaRPr lang="en-US" sz="1400" dirty="0"/>
          </a:p>
        </p:txBody>
      </p:sp>
      <p:sp>
        <p:nvSpPr>
          <p:cNvPr id="7" name="Future 2 circle"/>
          <p:cNvSpPr/>
          <p:nvPr/>
        </p:nvSpPr>
        <p:spPr>
          <a:xfrm>
            <a:off x="457200" y="2496312"/>
            <a:ext cx="640080" cy="640080"/>
          </a:xfrm>
          <a:prstGeom prst="ellipse">
            <a:avLst/>
          </a:prstGeom>
          <a:solidFill>
            <a:schemeClr val="accent2"/>
          </a:solidFill>
          <a:ln/>
        </p:spPr>
      </p:sp>
      <p:pic>
        <p:nvPicPr>
          <p:cNvPr id="8" name="Future 2 icon" descr="Future 2"/>
          <p:cNvPicPr>
            <a:picLocks noChangeAspect="1"/>
          </p:cNvPicPr>
          <p:nvPr/>
        </p:nvPicPr>
        <p:blipFill>
          <a:blip r:embed="rId4"/>
          <a:stretch>
            <a:fillRect/>
          </a:stretch>
        </p:blipFill>
        <p:spPr>
          <a:xfrm>
            <a:off x="630022" y="2669134"/>
            <a:ext cx="294437" cy="294437"/>
          </a:xfrm>
          <a:prstGeom prst="rect">
            <a:avLst/>
          </a:prstGeom>
        </p:spPr>
      </p:pic>
      <p:sp>
        <p:nvSpPr>
          <p:cNvPr id="9" name="Text 5"/>
          <p:cNvSpPr txBox="1"/>
          <p:nvPr/>
        </p:nvSpPr>
        <p:spPr>
          <a:xfrm>
            <a:off x="1280160" y="2423160"/>
            <a:ext cx="3840480" cy="320040"/>
          </a:xfrm>
          <a:prstGeom prst="rect">
            <a:avLst/>
          </a:prstGeom>
          <a:noFill/>
          <a:ln/>
        </p:spPr>
        <p:txBody>
          <a:bodyPr wrap="square" lIns="0" tIns="0" rIns="0" bIns="0" rtlCol="0" anchor="t"/>
          <a:lstStyle/>
          <a:p>
            <a:pPr marL="0" indent="0">
              <a:buNone/>
            </a:pPr>
            <a:r>
              <a:rPr lang="en-US" sz="1800" b="1" dirty="0">
                <a:solidFill>
                  <a:schemeClr val="bg1"/>
                </a:solidFill>
              </a:rPr>
              <a:t>Chat with your report</a:t>
            </a:r>
            <a:endParaRPr lang="en-US" sz="1800" dirty="0"/>
          </a:p>
        </p:txBody>
      </p:sp>
      <p:sp>
        <p:nvSpPr>
          <p:cNvPr id="10" name="Text 6"/>
          <p:cNvSpPr txBox="1"/>
          <p:nvPr/>
        </p:nvSpPr>
        <p:spPr>
          <a:xfrm>
            <a:off x="1280160" y="2770632"/>
            <a:ext cx="3840480" cy="594360"/>
          </a:xfrm>
          <a:prstGeom prst="rect">
            <a:avLst/>
          </a:prstGeom>
          <a:noFill/>
          <a:ln/>
        </p:spPr>
        <p:txBody>
          <a:bodyPr wrap="square" lIns="0" tIns="0" rIns="0" bIns="0" rtlCol="0" anchor="t"/>
          <a:lstStyle/>
          <a:p>
            <a:pPr marL="0" indent="0">
              <a:buNone/>
            </a:pPr>
            <a:r>
              <a:rPr lang="en-US" sz="1400" dirty="0">
                <a:solidFill>
                  <a:schemeClr val="bg2"/>
                </a:solidFill>
              </a:rPr>
              <a:t>On-device RAG assistant bound strictly to the uploaded document</a:t>
            </a:r>
            <a:endParaRPr lang="en-US" sz="1400" dirty="0"/>
          </a:p>
        </p:txBody>
      </p:sp>
      <p:sp>
        <p:nvSpPr>
          <p:cNvPr id="11" name="Future 3 circle"/>
          <p:cNvSpPr/>
          <p:nvPr/>
        </p:nvSpPr>
        <p:spPr>
          <a:xfrm>
            <a:off x="457200" y="3593592"/>
            <a:ext cx="640080" cy="640080"/>
          </a:xfrm>
          <a:prstGeom prst="ellipse">
            <a:avLst/>
          </a:prstGeom>
          <a:solidFill>
            <a:schemeClr val="accent2"/>
          </a:solidFill>
          <a:ln/>
        </p:spPr>
      </p:sp>
      <p:pic>
        <p:nvPicPr>
          <p:cNvPr id="12" name="Future 3 icon" descr="Future 3"/>
          <p:cNvPicPr>
            <a:picLocks noChangeAspect="1"/>
          </p:cNvPicPr>
          <p:nvPr/>
        </p:nvPicPr>
        <p:blipFill>
          <a:blip r:embed="rId5"/>
          <a:stretch>
            <a:fillRect/>
          </a:stretch>
        </p:blipFill>
        <p:spPr>
          <a:xfrm>
            <a:off x="630022" y="3766414"/>
            <a:ext cx="294437" cy="294437"/>
          </a:xfrm>
          <a:prstGeom prst="rect">
            <a:avLst/>
          </a:prstGeom>
        </p:spPr>
      </p:pic>
      <p:sp>
        <p:nvSpPr>
          <p:cNvPr id="13" name="Text 8"/>
          <p:cNvSpPr txBox="1"/>
          <p:nvPr/>
        </p:nvSpPr>
        <p:spPr>
          <a:xfrm>
            <a:off x="1280160" y="3520440"/>
            <a:ext cx="3840480" cy="320040"/>
          </a:xfrm>
          <a:prstGeom prst="rect">
            <a:avLst/>
          </a:prstGeom>
          <a:noFill/>
          <a:ln/>
        </p:spPr>
        <p:txBody>
          <a:bodyPr wrap="square" lIns="0" tIns="0" rIns="0" bIns="0" rtlCol="0" anchor="t"/>
          <a:lstStyle/>
          <a:p>
            <a:pPr marL="0" indent="0">
              <a:buNone/>
            </a:pPr>
            <a:r>
              <a:rPr lang="en-US" sz="1800" b="1" dirty="0">
                <a:solidFill>
                  <a:schemeClr val="bg1"/>
                </a:solidFill>
              </a:rPr>
              <a:t>Drug interaction checks</a:t>
            </a:r>
            <a:endParaRPr lang="en-US" sz="1800" dirty="0"/>
          </a:p>
        </p:txBody>
      </p:sp>
      <p:sp>
        <p:nvSpPr>
          <p:cNvPr id="14" name="Text 9"/>
          <p:cNvSpPr txBox="1"/>
          <p:nvPr/>
        </p:nvSpPr>
        <p:spPr>
          <a:xfrm>
            <a:off x="1280160" y="3867912"/>
            <a:ext cx="3840480" cy="594360"/>
          </a:xfrm>
          <a:prstGeom prst="rect">
            <a:avLst/>
          </a:prstGeom>
          <a:noFill/>
          <a:ln/>
        </p:spPr>
        <p:txBody>
          <a:bodyPr wrap="square" lIns="0" tIns="0" rIns="0" bIns="0" rtlCol="0" anchor="t"/>
          <a:lstStyle/>
          <a:p>
            <a:pPr marL="0" indent="0">
              <a:buNone/>
            </a:pPr>
            <a:r>
              <a:rPr lang="en-US" sz="1400" dirty="0">
                <a:solidFill>
                  <a:schemeClr val="bg2"/>
                </a:solidFill>
              </a:rPr>
              <a:t>Warn about hazardous drug-drug and food-drug combinations</a:t>
            </a:r>
            <a:endParaRPr lang="en-US" sz="1400" dirty="0"/>
          </a:p>
        </p:txBody>
      </p:sp>
      <p:sp>
        <p:nvSpPr>
          <p:cNvPr id="15" name="Conclusion card"/>
          <p:cNvSpPr/>
          <p:nvPr/>
        </p:nvSpPr>
        <p:spPr>
          <a:xfrm>
            <a:off x="5486400" y="1280160"/>
            <a:ext cx="3200400" cy="3337560"/>
          </a:xfrm>
          <a:prstGeom prst="roundRect">
            <a:avLst>
              <a:gd name="adj" fmla="val 2857"/>
            </a:avLst>
          </a:prstGeom>
          <a:solidFill>
            <a:schemeClr val="bg1"/>
          </a:solidFill>
          <a:ln/>
        </p:spPr>
      </p:sp>
      <p:sp>
        <p:nvSpPr>
          <p:cNvPr id="16" name="Text 11"/>
          <p:cNvSpPr txBox="1"/>
          <p:nvPr/>
        </p:nvSpPr>
        <p:spPr>
          <a:xfrm>
            <a:off x="5715000" y="1463040"/>
            <a:ext cx="2743200" cy="36576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Conclusion</a:t>
            </a:r>
            <a:endParaRPr lang="en-US" sz="2000" dirty="0"/>
          </a:p>
        </p:txBody>
      </p:sp>
      <p:sp>
        <p:nvSpPr>
          <p:cNvPr id="17" name="Text 12"/>
          <p:cNvSpPr txBox="1"/>
          <p:nvPr/>
        </p:nvSpPr>
        <p:spPr>
          <a:xfrm>
            <a:off x="5715000" y="1920240"/>
            <a:ext cx="2743200"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Deterministic range checks remove numeric hallucination</a:t>
            </a:r>
            <a:endParaRPr lang="en-US" sz="1400" dirty="0"/>
          </a:p>
          <a:p>
            <a:pPr marL="177800" indent="-177800">
              <a:spcAft>
                <a:spcPts val="800"/>
              </a:spcAft>
              <a:buSzPct val="100000"/>
              <a:buChar char="•"/>
            </a:pPr>
            <a:r>
              <a:rPr lang="en-US" sz="1400" dirty="0">
                <a:solidFill>
                  <a:schemeClr val="tx1"/>
                </a:solidFill>
              </a:rPr>
              <a:t>8-class NER with negation-aware assertions</a:t>
            </a:r>
            <a:endParaRPr lang="en-US" sz="1400" dirty="0"/>
          </a:p>
          <a:p>
            <a:pPr marL="177800" indent="-177800">
              <a:spcAft>
                <a:spcPts val="800"/>
              </a:spcAft>
              <a:buSzPct val="100000"/>
              <a:buChar char="•"/>
            </a:pPr>
            <a:r>
              <a:rPr lang="en-US" sz="1400" dirty="0">
                <a:solidFill>
                  <a:schemeClr val="tx1"/>
                </a:solidFill>
              </a:rPr>
              <a:t>Grounded in 6,168 clinical reports, zero data retention</a:t>
            </a:r>
            <a:endParaRPr lang="en-US" sz="1400" dirty="0"/>
          </a:p>
          <a:p>
            <a:pPr marL="177800" indent="-177800">
              <a:spcAft>
                <a:spcPts val="800"/>
              </a:spcAft>
              <a:buSzPct val="100000"/>
              <a:buChar char="•"/>
            </a:pPr>
            <a:r>
              <a:rPr lang="en-US" sz="1400" dirty="0">
                <a:solidFill>
                  <a:schemeClr val="tx1"/>
                </a:solidFill>
              </a:rPr>
              <a:t>Clear, actionable insight for better doctor visits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B9B4"/>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MediRep">
  <a:themeElements>
    <a:clrScheme name="MediRep">
      <a:dk1>
        <a:srgbClr val="1B2B33"/>
      </a:dk1>
      <a:lt1>
        <a:srgbClr val="FFFFFF"/>
      </a:lt1>
      <a:dk2>
        <a:srgbClr val="0B3C49"/>
      </a:dk2>
      <a:lt2>
        <a:srgbClr val="E6F3F2"/>
      </a:lt2>
      <a:accent1>
        <a:srgbClr val="14808A"/>
      </a:accent1>
      <a:accent2>
        <a:srgbClr val="2EC4B6"/>
      </a:accent2>
      <a:accent3>
        <a:srgbClr val="D9482B"/>
      </a:accent3>
      <a:accent4>
        <a:srgbClr val="F2A541"/>
      </a:accent4>
      <a:accent5>
        <a:srgbClr val="4F6F7D"/>
      </a:accent5>
      <a:accent6>
        <a:srgbClr val="8FB9B4"/>
      </a:accent6>
      <a:hlink>
        <a:srgbClr val="14808A"/>
      </a:hlink>
      <a:folHlink>
        <a:srgbClr val="4F6F7D"/>
      </a:folHlink>
    </a:clrScheme>
    <a:fontScheme name="MediRe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1060</Words>
  <Application>Microsoft Office PowerPoint</Application>
  <PresentationFormat>On-screen Show (16:9)</PresentationFormat>
  <Paragraphs>158</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MediRep</vt:lpstr>
      <vt:lpstr>MediRep</vt:lpstr>
      <vt:lpstr>Why Reports Confuse Patients</vt:lpstr>
      <vt:lpstr>Project Objectives</vt:lpstr>
      <vt:lpstr>Gaps in Existing Systems</vt:lpstr>
      <vt:lpstr>System Architecture</vt:lpstr>
      <vt:lpstr>Seven-Stage Analysis Pipeline</vt:lpstr>
      <vt:lpstr>Dataset: 6,168 Real Reports</vt:lpstr>
      <vt:lpstr>Clinical Entity Taxonomy</vt:lpstr>
      <vt:lpstr>PowerPoint Presentation</vt:lpstr>
      <vt:lpstr>Future Scope &amp;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MediRep: AI-Powered Medical Report Analyzer</dc:title>
  <dc:subject>PptxGenJS Presentation</dc:subject>
  <dc:creator>PptxGenJS</dc:creator>
  <cp:lastModifiedBy>Vasu Dev</cp:lastModifiedBy>
  <cp:revision>3</cp:revision>
  <dcterms:created xsi:type="dcterms:W3CDTF">2026-10-20T16:05:38Z</dcterms:created>
  <dcterms:modified xsi:type="dcterms:W3CDTF">2026-10-21T06:00:27Z</dcterms:modified>
</cp:coreProperties>
</file>